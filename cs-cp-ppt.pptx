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2" name="Shape 112"/>
          <p:cNvSpPr/>
          <p:nvPr>
            <p:ph type="sldImg"/>
          </p:nvPr>
        </p:nvSpPr>
        <p:spPr>
          <a:xfrm>
            <a:off x="1143000" y="685800"/>
            <a:ext cx="4572000" cy="3429000"/>
          </a:xfrm>
          <a:prstGeom prst="rect">
            <a:avLst/>
          </a:prstGeom>
        </p:spPr>
        <p:txBody>
          <a:bodyPr/>
          <a:lstStyle/>
          <a:p>
            <a:pPr/>
          </a:p>
        </p:txBody>
      </p:sp>
      <p:sp>
        <p:nvSpPr>
          <p:cNvPr id="113" name="Shape 11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143000" y="841771"/>
            <a:ext cx="6858000" cy="1790701"/>
          </a:xfrm>
          <a:prstGeom prst="rect">
            <a:avLst/>
          </a:prstGeom>
        </p:spPr>
        <p:txBody>
          <a:bodyPr anchor="b"/>
          <a:lstStyle>
            <a:lvl1pPr algn="ctr">
              <a:defRPr sz="4500"/>
            </a:lvl1pPr>
          </a:lstStyle>
          <a:p>
            <a:pPr/>
            <a:r>
              <a:t>Title Text</a:t>
            </a:r>
          </a:p>
        </p:txBody>
      </p:sp>
      <p:sp>
        <p:nvSpPr>
          <p:cNvPr id="12" name="Body Level One…"/>
          <p:cNvSpPr txBox="1"/>
          <p:nvPr>
            <p:ph type="body" sz="quarter" idx="1"/>
          </p:nvPr>
        </p:nvSpPr>
        <p:spPr>
          <a:xfrm>
            <a:off x="1143000" y="2701527"/>
            <a:ext cx="6858000" cy="1241823"/>
          </a:xfrm>
          <a:prstGeom prst="rect">
            <a:avLst/>
          </a:prstGeom>
        </p:spPr>
        <p:txBody>
          <a:bodyPr/>
          <a:lstStyle>
            <a:lvl1pPr marL="361950" indent="-266700" algn="ctr">
              <a:buClrTx/>
              <a:buSzTx/>
              <a:buFontTx/>
              <a:buNone/>
              <a:defRPr sz="1800"/>
            </a:lvl1pPr>
            <a:lvl2pPr marL="361950" indent="209550" algn="ctr">
              <a:buClrTx/>
              <a:buSzTx/>
              <a:buFontTx/>
              <a:buNone/>
              <a:defRPr sz="1800"/>
            </a:lvl2pPr>
            <a:lvl3pPr marL="361950" indent="685800" algn="ctr">
              <a:buClrTx/>
              <a:buSzTx/>
              <a:buFontTx/>
              <a:buNone/>
              <a:defRPr sz="1800"/>
            </a:lvl3pPr>
            <a:lvl4pPr marL="361950" indent="1149350" algn="ctr">
              <a:buClrTx/>
              <a:buSzTx/>
              <a:buFontTx/>
              <a:buNone/>
              <a:defRPr sz="1800"/>
            </a:lvl4pPr>
            <a:lvl5pPr marL="361950" indent="1606550" algn="ctr">
              <a:buClrTx/>
              <a:buSzTx/>
              <a:buFontTx/>
              <a:buNone/>
              <a:defRPr sz="1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9" name="Title Text"/>
          <p:cNvSpPr txBox="1"/>
          <p:nvPr>
            <p:ph type="title"/>
          </p:nvPr>
        </p:nvSpPr>
        <p:spPr>
          <a:xfrm>
            <a:off x="623887" y="1282303"/>
            <a:ext cx="7886701" cy="2139554"/>
          </a:xfrm>
          <a:prstGeom prst="rect">
            <a:avLst/>
          </a:prstGeom>
        </p:spPr>
        <p:txBody>
          <a:bodyPr anchor="b"/>
          <a:lstStyle>
            <a:lvl1pPr>
              <a:defRPr sz="4500"/>
            </a:lvl1pPr>
          </a:lstStyle>
          <a:p>
            <a:pPr/>
            <a:r>
              <a:t>Title Text</a:t>
            </a:r>
          </a:p>
        </p:txBody>
      </p:sp>
      <p:sp>
        <p:nvSpPr>
          <p:cNvPr id="30" name="Body Level One…"/>
          <p:cNvSpPr txBox="1"/>
          <p:nvPr>
            <p:ph type="body" sz="quarter" idx="1"/>
          </p:nvPr>
        </p:nvSpPr>
        <p:spPr>
          <a:xfrm>
            <a:off x="623887" y="3442098"/>
            <a:ext cx="7886701" cy="1125141"/>
          </a:xfrm>
          <a:prstGeom prst="rect">
            <a:avLst/>
          </a:prstGeom>
        </p:spPr>
        <p:txBody>
          <a:bodyPr/>
          <a:lstStyle>
            <a:lvl1pPr marL="228600" indent="0">
              <a:buClrTx/>
              <a:buSzTx/>
              <a:buFontTx/>
              <a:buNone/>
              <a:defRPr sz="1800">
                <a:solidFill>
                  <a:srgbClr val="888888"/>
                </a:solidFill>
              </a:defRPr>
            </a:lvl1pPr>
            <a:lvl2pPr marL="228600" indent="457200">
              <a:buClrTx/>
              <a:buSzTx/>
              <a:buFontTx/>
              <a:buNone/>
              <a:defRPr sz="1800">
                <a:solidFill>
                  <a:srgbClr val="888888"/>
                </a:solidFill>
              </a:defRPr>
            </a:lvl2pPr>
            <a:lvl3pPr marL="228600" indent="914400">
              <a:buClrTx/>
              <a:buSzTx/>
              <a:buFontTx/>
              <a:buNone/>
              <a:defRPr sz="1800">
                <a:solidFill>
                  <a:srgbClr val="888888"/>
                </a:solidFill>
              </a:defRPr>
            </a:lvl3pPr>
            <a:lvl4pPr marL="228600" indent="1371600">
              <a:buClrTx/>
              <a:buSzTx/>
              <a:buFontTx/>
              <a:buNone/>
              <a:defRPr sz="1800">
                <a:solidFill>
                  <a:srgbClr val="888888"/>
                </a:solidFill>
              </a:defRPr>
            </a:lvl4pPr>
            <a:lvl5pPr marL="228600" indent="1828800">
              <a:buClrTx/>
              <a:buSzTx/>
              <a:buFontTx/>
              <a:buNone/>
              <a:defRPr sz="18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369219"/>
            <a:ext cx="3886200" cy="3263504"/>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Google Shape;36;p5"/>
          <p:cNvSpPr txBox="1"/>
          <p:nvPr>
            <p:ph type="body" sz="half" idx="21"/>
          </p:nvPr>
        </p:nvSpPr>
        <p:spPr>
          <a:xfrm>
            <a:off x="4629150" y="1369219"/>
            <a:ext cx="3886200" cy="3263505"/>
          </a:xfrm>
          <a:prstGeom prst="rect">
            <a:avLst/>
          </a:prstGeom>
        </p:spPr>
        <p:txBody>
          <a:bodyPr/>
          <a:lstStyle/>
          <a:p>
            <a:pP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48" name="Title Text"/>
          <p:cNvSpPr txBox="1"/>
          <p:nvPr>
            <p:ph type="title"/>
          </p:nvPr>
        </p:nvSpPr>
        <p:spPr>
          <a:xfrm>
            <a:off x="629841" y="273843"/>
            <a:ext cx="7886701" cy="994173"/>
          </a:xfrm>
          <a:prstGeom prst="rect">
            <a:avLst/>
          </a:prstGeom>
        </p:spPr>
        <p:txBody>
          <a:bodyPr/>
          <a:lstStyle/>
          <a:p>
            <a:pPr/>
            <a:r>
              <a:t>Title Text</a:t>
            </a:r>
          </a:p>
        </p:txBody>
      </p:sp>
      <p:sp>
        <p:nvSpPr>
          <p:cNvPr id="49" name="Body Level One…"/>
          <p:cNvSpPr txBox="1"/>
          <p:nvPr>
            <p:ph type="body" sz="quarter" idx="1"/>
          </p:nvPr>
        </p:nvSpPr>
        <p:spPr>
          <a:xfrm>
            <a:off x="629841" y="1260871"/>
            <a:ext cx="3868341" cy="617935"/>
          </a:xfrm>
          <a:prstGeom prst="rect">
            <a:avLst/>
          </a:prstGeom>
        </p:spPr>
        <p:txBody>
          <a:bodyPr anchor="b"/>
          <a:lstStyle>
            <a:lvl1pPr marL="228600" indent="0">
              <a:buClrTx/>
              <a:buSzTx/>
              <a:buFontTx/>
              <a:buNone/>
              <a:defRPr b="1" sz="1800"/>
            </a:lvl1pPr>
            <a:lvl2pPr marL="228600" indent="457200">
              <a:buClrTx/>
              <a:buSzTx/>
              <a:buFontTx/>
              <a:buNone/>
              <a:defRPr b="1" sz="1800"/>
            </a:lvl2pPr>
            <a:lvl3pPr marL="228600" indent="914400">
              <a:buClrTx/>
              <a:buSzTx/>
              <a:buFontTx/>
              <a:buNone/>
              <a:defRPr b="1" sz="1800"/>
            </a:lvl3pPr>
            <a:lvl4pPr marL="228600" indent="1371600">
              <a:buClrTx/>
              <a:buSzTx/>
              <a:buFontTx/>
              <a:buNone/>
              <a:defRPr b="1" sz="1800"/>
            </a:lvl4pPr>
            <a:lvl5pPr marL="228600" indent="1828800">
              <a:buClrTx/>
              <a:buSzTx/>
              <a:buFontTx/>
              <a:buNone/>
              <a:defRPr b="1" sz="1800"/>
            </a:lvl5pPr>
          </a:lstStyle>
          <a:p>
            <a:pPr/>
            <a:r>
              <a:t>Body Level One</a:t>
            </a:r>
          </a:p>
          <a:p>
            <a:pPr lvl="1"/>
            <a:r>
              <a:t>Body Level Two</a:t>
            </a:r>
          </a:p>
          <a:p>
            <a:pPr lvl="2"/>
            <a:r>
              <a:t>Body Level Three</a:t>
            </a:r>
          </a:p>
          <a:p>
            <a:pPr lvl="3"/>
            <a:r>
              <a:t>Body Level Four</a:t>
            </a:r>
          </a:p>
          <a:p>
            <a:pPr lvl="4"/>
            <a:r>
              <a:t>Body Level Five</a:t>
            </a:r>
          </a:p>
        </p:txBody>
      </p:sp>
      <p:sp>
        <p:nvSpPr>
          <p:cNvPr id="50" name="Google Shape;43;p6"/>
          <p:cNvSpPr txBox="1"/>
          <p:nvPr>
            <p:ph type="body" sz="half" idx="21"/>
          </p:nvPr>
        </p:nvSpPr>
        <p:spPr>
          <a:xfrm>
            <a:off x="629841" y="1878806"/>
            <a:ext cx="3868341" cy="2763442"/>
          </a:xfrm>
          <a:prstGeom prst="rect">
            <a:avLst/>
          </a:prstGeom>
        </p:spPr>
        <p:txBody>
          <a:bodyPr/>
          <a:lstStyle/>
          <a:p>
            <a:pPr/>
          </a:p>
        </p:txBody>
      </p:sp>
      <p:sp>
        <p:nvSpPr>
          <p:cNvPr id="51" name="Google Shape;44;p6"/>
          <p:cNvSpPr txBox="1"/>
          <p:nvPr>
            <p:ph type="body" sz="quarter" idx="22"/>
          </p:nvPr>
        </p:nvSpPr>
        <p:spPr>
          <a:xfrm>
            <a:off x="4629150" y="1260871"/>
            <a:ext cx="3887392" cy="617935"/>
          </a:xfrm>
          <a:prstGeom prst="rect">
            <a:avLst/>
          </a:prstGeom>
        </p:spPr>
        <p:txBody>
          <a:bodyPr anchor="b"/>
          <a:lstStyle/>
          <a:p>
            <a:pPr marL="228600" indent="0">
              <a:buClrTx/>
              <a:buSzTx/>
              <a:buFontTx/>
              <a:buNone/>
              <a:defRPr b="1" sz="1800"/>
            </a:pPr>
          </a:p>
        </p:txBody>
      </p:sp>
      <p:sp>
        <p:nvSpPr>
          <p:cNvPr id="52" name="Google Shape;45;p6"/>
          <p:cNvSpPr txBox="1"/>
          <p:nvPr>
            <p:ph type="body" sz="half" idx="23"/>
          </p:nvPr>
        </p:nvSpPr>
        <p:spPr>
          <a:xfrm>
            <a:off x="4629150" y="1878806"/>
            <a:ext cx="3887392" cy="2763442"/>
          </a:xfrm>
          <a:prstGeom prst="rect">
            <a:avLst/>
          </a:prstGeom>
        </p:spPr>
        <p:txBody>
          <a:bodyPr/>
          <a:lstStyle/>
          <a:p>
            <a:pP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0" name="Title Text"/>
          <p:cNvSpPr txBox="1"/>
          <p:nvPr>
            <p:ph type="title"/>
          </p:nvPr>
        </p:nvSpPr>
        <p:spPr>
          <a:prstGeom prst="rect">
            <a:avLst/>
          </a:prstGeom>
        </p:spPr>
        <p:txBody>
          <a:bodyPr/>
          <a:lstStyle/>
          <a:p>
            <a:pPr/>
            <a:r>
              <a:t>Title Text</a:t>
            </a:r>
          </a:p>
        </p:txBody>
      </p:sp>
      <p:sp>
        <p:nvSpPr>
          <p:cNvPr id="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5" name="Title Text"/>
          <p:cNvSpPr txBox="1"/>
          <p:nvPr>
            <p:ph type="title"/>
          </p:nvPr>
        </p:nvSpPr>
        <p:spPr>
          <a:xfrm>
            <a:off x="629841" y="342900"/>
            <a:ext cx="2949178" cy="1200150"/>
          </a:xfrm>
          <a:prstGeom prst="rect">
            <a:avLst/>
          </a:prstGeom>
        </p:spPr>
        <p:txBody>
          <a:bodyPr anchor="b"/>
          <a:lstStyle>
            <a:lvl1pPr>
              <a:defRPr sz="2400"/>
            </a:lvl1pPr>
          </a:lstStyle>
          <a:p>
            <a:pPr/>
            <a:r>
              <a:t>Title Text</a:t>
            </a:r>
          </a:p>
        </p:txBody>
      </p:sp>
      <p:sp>
        <p:nvSpPr>
          <p:cNvPr id="76" name="Body Level One…"/>
          <p:cNvSpPr txBox="1"/>
          <p:nvPr>
            <p:ph type="body" sz="half" idx="1"/>
          </p:nvPr>
        </p:nvSpPr>
        <p:spPr>
          <a:xfrm>
            <a:off x="3887391" y="740568"/>
            <a:ext cx="4629151" cy="3655221"/>
          </a:xfrm>
          <a:prstGeom prst="rect">
            <a:avLst/>
          </a:prstGeom>
        </p:spPr>
        <p:txBody>
          <a:bodyPr/>
          <a:lstStyle>
            <a:lvl1pPr indent="-381000">
              <a:buSzPts val="2400"/>
              <a:defRPr sz="2400"/>
            </a:lvl1pPr>
            <a:lvl2pPr marL="966107" indent="-413657">
              <a:buSzPts val="2400"/>
              <a:defRPr sz="2400"/>
            </a:lvl2pPr>
            <a:lvl3pPr marL="1485900" indent="-457200">
              <a:buSzPts val="2400"/>
              <a:defRPr sz="2400"/>
            </a:lvl3pPr>
            <a:lvl4pPr marL="2023110" indent="-518160">
              <a:buSzPts val="2400"/>
              <a:defRPr sz="2400"/>
            </a:lvl4pPr>
            <a:lvl5pPr marL="2480310" indent="-518160">
              <a:buSzPts val="2400"/>
              <a:defRPr sz="2400"/>
            </a:lvl5pPr>
          </a:lstStyle>
          <a:p>
            <a:pPr/>
            <a:r>
              <a:t>Body Level One</a:t>
            </a:r>
          </a:p>
          <a:p>
            <a:pPr lvl="1"/>
            <a:r>
              <a:t>Body Level Two</a:t>
            </a:r>
          </a:p>
          <a:p>
            <a:pPr lvl="2"/>
            <a:r>
              <a:t>Body Level Three</a:t>
            </a:r>
          </a:p>
          <a:p>
            <a:pPr lvl="3"/>
            <a:r>
              <a:t>Body Level Four</a:t>
            </a:r>
          </a:p>
          <a:p>
            <a:pPr lvl="4"/>
            <a:r>
              <a:t>Body Level Five</a:t>
            </a:r>
          </a:p>
        </p:txBody>
      </p:sp>
      <p:sp>
        <p:nvSpPr>
          <p:cNvPr id="77" name="Google Shape;61;p9"/>
          <p:cNvSpPr txBox="1"/>
          <p:nvPr>
            <p:ph type="body" sz="quarter" idx="21"/>
          </p:nvPr>
        </p:nvSpPr>
        <p:spPr>
          <a:xfrm>
            <a:off x="629840" y="1543050"/>
            <a:ext cx="2949180" cy="2858692"/>
          </a:xfrm>
          <a:prstGeom prst="rect">
            <a:avLst/>
          </a:prstGeom>
        </p:spPr>
        <p:txBody>
          <a:bodyPr/>
          <a:lstStyle/>
          <a:p>
            <a:pPr marL="228600" indent="0">
              <a:buClrTx/>
              <a:buSzTx/>
              <a:buFontTx/>
              <a:buNone/>
              <a:defRPr sz="1200"/>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5" name="Title Text"/>
          <p:cNvSpPr txBox="1"/>
          <p:nvPr>
            <p:ph type="title"/>
          </p:nvPr>
        </p:nvSpPr>
        <p:spPr>
          <a:xfrm>
            <a:off x="629841" y="342900"/>
            <a:ext cx="2949178" cy="1200150"/>
          </a:xfrm>
          <a:prstGeom prst="rect">
            <a:avLst/>
          </a:prstGeom>
        </p:spPr>
        <p:txBody>
          <a:bodyPr anchor="b"/>
          <a:lstStyle>
            <a:lvl1pPr>
              <a:defRPr sz="2400"/>
            </a:lvl1pPr>
          </a:lstStyle>
          <a:p>
            <a:pPr/>
            <a:r>
              <a:t>Title Text</a:t>
            </a:r>
          </a:p>
        </p:txBody>
      </p:sp>
      <p:sp>
        <p:nvSpPr>
          <p:cNvPr id="86" name="Google Shape;67;p10"/>
          <p:cNvSpPr/>
          <p:nvPr>
            <p:ph type="pic" sz="half" idx="21"/>
          </p:nvPr>
        </p:nvSpPr>
        <p:spPr>
          <a:xfrm>
            <a:off x="3887391" y="740568"/>
            <a:ext cx="4629151" cy="3655221"/>
          </a:xfrm>
          <a:prstGeom prst="rect">
            <a:avLst/>
          </a:prstGeom>
        </p:spPr>
        <p:txBody>
          <a:bodyPr lIns="91439" tIns="45719" rIns="91439" bIns="45719">
            <a:noAutofit/>
          </a:bodyPr>
          <a:lstStyle/>
          <a:p>
            <a:pPr/>
          </a:p>
        </p:txBody>
      </p:sp>
      <p:sp>
        <p:nvSpPr>
          <p:cNvPr id="87" name="Body Level One…"/>
          <p:cNvSpPr txBox="1"/>
          <p:nvPr>
            <p:ph type="body" sz="quarter" idx="1"/>
          </p:nvPr>
        </p:nvSpPr>
        <p:spPr>
          <a:xfrm>
            <a:off x="629841" y="1543050"/>
            <a:ext cx="2949178" cy="2858692"/>
          </a:xfrm>
          <a:prstGeom prst="rect">
            <a:avLst/>
          </a:prstGeom>
        </p:spPr>
        <p:txBody>
          <a:bodyPr/>
          <a:lstStyle>
            <a:lvl1pPr marL="228600" indent="0">
              <a:buClrTx/>
              <a:buSzTx/>
              <a:buFontTx/>
              <a:buNone/>
              <a:defRPr sz="1200"/>
            </a:lvl1pPr>
            <a:lvl2pPr marL="228600" indent="457200">
              <a:buClrTx/>
              <a:buSzTx/>
              <a:buFontTx/>
              <a:buNone/>
              <a:defRPr sz="1200"/>
            </a:lvl2pPr>
            <a:lvl3pPr marL="228600" indent="914400">
              <a:buClrTx/>
              <a:buSzTx/>
              <a:buFontTx/>
              <a:buNone/>
              <a:defRPr sz="1200"/>
            </a:lvl3pPr>
            <a:lvl4pPr marL="228600" indent="1371600">
              <a:buClrTx/>
              <a:buSzTx/>
              <a:buFontTx/>
              <a:buNone/>
              <a:defRPr sz="1200"/>
            </a:lvl4pPr>
            <a:lvl5pPr marL="228600" indent="1828800">
              <a:buClrTx/>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95" name="Title Text"/>
          <p:cNvSpPr txBox="1"/>
          <p:nvPr>
            <p:ph type="title"/>
          </p:nvPr>
        </p:nvSpPr>
        <p:spPr>
          <a:prstGeom prst="rect">
            <a:avLst/>
          </a:prstGeom>
        </p:spPr>
        <p:txBody>
          <a:bodyPr/>
          <a:lstStyle/>
          <a:p>
            <a:pPr/>
            <a:r>
              <a:t>Title Text</a:t>
            </a:r>
          </a:p>
        </p:txBody>
      </p:sp>
      <p:sp>
        <p:nvSpPr>
          <p:cNvPr id="96" name="Body Level One…"/>
          <p:cNvSpPr txBox="1"/>
          <p:nvPr>
            <p:ph type="body" idx="1"/>
          </p:nvPr>
        </p:nvSpPr>
        <p:spPr>
          <a:xfrm rot="5400000">
            <a:off x="2940248" y="-942380"/>
            <a:ext cx="3263504" cy="78867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04" name="Title Text"/>
          <p:cNvSpPr txBox="1"/>
          <p:nvPr>
            <p:ph type="title"/>
          </p:nvPr>
        </p:nvSpPr>
        <p:spPr>
          <a:xfrm rot="5400000">
            <a:off x="5350073" y="1467445"/>
            <a:ext cx="4358879" cy="1971676"/>
          </a:xfrm>
          <a:prstGeom prst="rect">
            <a:avLst/>
          </a:prstGeom>
        </p:spPr>
        <p:txBody>
          <a:bodyPr/>
          <a:lstStyle/>
          <a:p>
            <a:pPr/>
            <a:r>
              <a:t>Title Text</a:t>
            </a:r>
          </a:p>
        </p:txBody>
      </p:sp>
      <p:sp>
        <p:nvSpPr>
          <p:cNvPr id="105" name="Body Level One…"/>
          <p:cNvSpPr txBox="1"/>
          <p:nvPr>
            <p:ph type="body" idx="1"/>
          </p:nvPr>
        </p:nvSpPr>
        <p:spPr>
          <a:xfrm rot="5400000">
            <a:off x="1349572" y="-447080"/>
            <a:ext cx="4358880" cy="580072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2F2F2">
            <a:alpha val="71764"/>
          </a:srgbClr>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273843"/>
            <a:ext cx="7886700" cy="994173"/>
          </a:xfrm>
          <a:prstGeom prst="rect">
            <a:avLst/>
          </a:prstGeom>
          <a:ln w="12700">
            <a:miter lim="400000"/>
          </a:ln>
          <a:extLst>
            <a:ext uri="{C572A759-6A51-4108-AA02-DFA0A04FC94B}">
              <ma14:wrappingTextBoxFlag xmlns:ma14="http://schemas.microsoft.com/office/mac/drawingml/2011/main" val="1"/>
            </a:ext>
          </a:extLst>
        </p:spPr>
        <p:txBody>
          <a:bodyPr lIns="34275" tIns="34275" rIns="34275" bIns="34275" anchor="ctr">
            <a:normAutofit fontScale="100000" lnSpcReduction="0"/>
          </a:bodyPr>
          <a:lstStyle/>
          <a:p>
            <a:pPr/>
            <a:r>
              <a:t>Title Text</a:t>
            </a:r>
          </a:p>
        </p:txBody>
      </p:sp>
      <p:sp>
        <p:nvSpPr>
          <p:cNvPr id="3" name="Body Level One…"/>
          <p:cNvSpPr txBox="1"/>
          <p:nvPr>
            <p:ph type="body" idx="1"/>
          </p:nvPr>
        </p:nvSpPr>
        <p:spPr>
          <a:xfrm>
            <a:off x="628650" y="1369219"/>
            <a:ext cx="7886700" cy="3263504"/>
          </a:xfrm>
          <a:prstGeom prst="rect">
            <a:avLst/>
          </a:prstGeom>
          <a:ln w="12700">
            <a:miter lim="400000"/>
          </a:ln>
          <a:extLst>
            <a:ext uri="{C572A759-6A51-4108-AA02-DFA0A04FC94B}">
              <ma14:wrappingTextBoxFlag xmlns:ma14="http://schemas.microsoft.com/office/mac/drawingml/2011/main" val="1"/>
            </a:ext>
          </a:extLst>
        </p:spPr>
        <p:txBody>
          <a:bodyPr lIns="34275" tIns="34275" rIns="34275" bIns="34275">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318237" y="4812672"/>
            <a:ext cx="197114" cy="183025"/>
          </a:xfrm>
          <a:prstGeom prst="rect">
            <a:avLst/>
          </a:prstGeom>
          <a:ln w="12700">
            <a:miter lim="400000"/>
          </a:ln>
        </p:spPr>
        <p:txBody>
          <a:bodyPr wrap="none" lIns="34275" tIns="34275" rIns="34275" bIns="34275" anchor="ctr">
            <a:spAutoFit/>
          </a:bodyPr>
          <a:lstStyle>
            <a:lvl1pPr algn="r">
              <a:defRPr sz="9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3pPr>
      <a:lvl4pPr marL="20002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4pPr>
      <a:lvl5pPr marL="24574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5pPr>
      <a:lvl6pPr marL="29146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6pPr>
      <a:lvl7pPr marL="33718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7pPr>
      <a:lvl8pPr marL="38290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8pPr>
      <a:lvl9pPr marL="4286250" marR="0" indent="-514350" algn="l" defTabSz="914400" rtl="0" latinLnBrk="0">
        <a:lnSpc>
          <a:spcPct val="90000"/>
        </a:lnSpc>
        <a:spcBef>
          <a:spcPts val="700"/>
        </a:spcBef>
        <a:spcAft>
          <a:spcPts val="0"/>
        </a:spcAft>
        <a:buClr>
          <a:srgbClr val="000000"/>
        </a:buClr>
        <a:buSzPts val="2100"/>
        <a:buFont typeface="Arial"/>
        <a:buChar char="•"/>
        <a:tabLst/>
        <a:defRPr b="0" baseline="0" cap="none" i="0" spc="0" strike="noStrike" sz="21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Google Shape;88;p13"/>
          <p:cNvSpPr txBox="1"/>
          <p:nvPr>
            <p:ph type="ctrTitle"/>
          </p:nvPr>
        </p:nvSpPr>
        <p:spPr>
          <a:xfrm>
            <a:off x="974615" y="-140150"/>
            <a:ext cx="7516801" cy="1133102"/>
          </a:xfrm>
          <a:prstGeom prst="rect">
            <a:avLst/>
          </a:prstGeom>
        </p:spPr>
        <p:txBody>
          <a:bodyPr/>
          <a:lstStyle>
            <a:lvl1pPr>
              <a:lnSpc>
                <a:spcPct val="100000"/>
              </a:lnSpc>
              <a:defRPr sz="2700">
                <a:latin typeface="Times New Roman"/>
                <a:ea typeface="Times New Roman"/>
                <a:cs typeface="Times New Roman"/>
                <a:sym typeface="Times New Roman"/>
              </a:defRPr>
            </a:lvl1pPr>
          </a:lstStyle>
          <a:p>
            <a:pPr/>
            <a:r>
              <a:t>AI-Powered Insider Threat Detection System.</a:t>
            </a:r>
          </a:p>
        </p:txBody>
      </p:sp>
      <p:sp>
        <p:nvSpPr>
          <p:cNvPr id="116" name="Google Shape;89;p13"/>
          <p:cNvSpPr txBox="1"/>
          <p:nvPr>
            <p:ph type="subTitle" sz="half" idx="1"/>
          </p:nvPr>
        </p:nvSpPr>
        <p:spPr>
          <a:xfrm>
            <a:off x="974615" y="1329470"/>
            <a:ext cx="7214215" cy="1641473"/>
          </a:xfrm>
          <a:prstGeom prst="rect">
            <a:avLst/>
          </a:prstGeom>
        </p:spPr>
        <p:txBody>
          <a:bodyPr/>
          <a:lstStyle/>
          <a:p>
            <a:pPr marL="0" indent="0" defTabSz="749808">
              <a:lnSpc>
                <a:spcPct val="100000"/>
              </a:lnSpc>
              <a:spcBef>
                <a:spcPts val="0"/>
              </a:spcBef>
              <a:defRPr sz="1148">
                <a:latin typeface="Times New Roman"/>
                <a:ea typeface="Times New Roman"/>
                <a:cs typeface="Times New Roman"/>
                <a:sym typeface="Times New Roman"/>
              </a:defRPr>
            </a:pPr>
            <a:r>
              <a:t>Kanchan Swami (12310484) </a:t>
            </a:r>
          </a:p>
          <a:p>
            <a:pPr marL="0" indent="0" defTabSz="749808">
              <a:lnSpc>
                <a:spcPct val="100000"/>
              </a:lnSpc>
              <a:spcBef>
                <a:spcPts val="0"/>
              </a:spcBef>
              <a:defRPr sz="1148">
                <a:latin typeface="Times New Roman"/>
                <a:ea typeface="Times New Roman"/>
                <a:cs typeface="Times New Roman"/>
                <a:sym typeface="Times New Roman"/>
              </a:defRPr>
            </a:pPr>
            <a:r>
              <a:t>Viraj Zende (12311574)</a:t>
            </a:r>
          </a:p>
          <a:p>
            <a:pPr marL="0" indent="0" defTabSz="749808">
              <a:lnSpc>
                <a:spcPct val="100000"/>
              </a:lnSpc>
              <a:spcBef>
                <a:spcPts val="0"/>
              </a:spcBef>
              <a:defRPr sz="1148">
                <a:latin typeface="Times New Roman"/>
                <a:ea typeface="Times New Roman"/>
                <a:cs typeface="Times New Roman"/>
                <a:sym typeface="Times New Roman"/>
              </a:defRPr>
            </a:pPr>
            <a:r>
              <a:t>Abhishek Veer (12311391)</a:t>
            </a:r>
          </a:p>
          <a:p>
            <a:pPr marL="0" indent="0" defTabSz="749808">
              <a:lnSpc>
                <a:spcPct val="100000"/>
              </a:lnSpc>
              <a:spcBef>
                <a:spcPts val="0"/>
              </a:spcBef>
              <a:defRPr sz="1148">
                <a:latin typeface="Times New Roman"/>
                <a:ea typeface="Times New Roman"/>
                <a:cs typeface="Times New Roman"/>
                <a:sym typeface="Times New Roman"/>
              </a:defRPr>
            </a:pPr>
            <a:r>
              <a:t>Vedant Patil (12311206) </a:t>
            </a:r>
          </a:p>
          <a:p>
            <a:pPr marL="0" indent="0" defTabSz="749808">
              <a:lnSpc>
                <a:spcPct val="100000"/>
              </a:lnSpc>
              <a:spcBef>
                <a:spcPts val="0"/>
              </a:spcBef>
              <a:defRPr b="1" sz="1148">
                <a:latin typeface="Times New Roman"/>
                <a:ea typeface="Times New Roman"/>
                <a:cs typeface="Times New Roman"/>
                <a:sym typeface="Times New Roman"/>
              </a:defRPr>
            </a:pPr>
            <a:r>
              <a:t>Department of Computer Engineering</a:t>
            </a:r>
          </a:p>
          <a:p>
            <a:pPr marL="0" indent="0" defTabSz="749808">
              <a:lnSpc>
                <a:spcPct val="100000"/>
              </a:lnSpc>
              <a:spcBef>
                <a:spcPts val="0"/>
              </a:spcBef>
              <a:defRPr b="1" sz="1148">
                <a:latin typeface="Times New Roman"/>
                <a:ea typeface="Times New Roman"/>
                <a:cs typeface="Times New Roman"/>
                <a:sym typeface="Times New Roman"/>
              </a:defRPr>
            </a:pPr>
          </a:p>
          <a:p>
            <a:pPr marL="0" indent="0" defTabSz="749808">
              <a:spcBef>
                <a:spcPts val="500"/>
              </a:spcBef>
              <a:defRPr sz="1148">
                <a:latin typeface="Times New Roman"/>
                <a:ea typeface="Times New Roman"/>
                <a:cs typeface="Times New Roman"/>
                <a:sym typeface="Times New Roman"/>
              </a:defRPr>
            </a:pPr>
            <a:r>
              <a:t>Under the Guidance of</a:t>
            </a:r>
          </a:p>
          <a:p>
            <a:pPr marL="0" indent="0" defTabSz="749808">
              <a:lnSpc>
                <a:spcPct val="100000"/>
              </a:lnSpc>
              <a:spcBef>
                <a:spcPts val="0"/>
              </a:spcBef>
              <a:defRPr b="1" sz="984">
                <a:latin typeface="Times New Roman"/>
                <a:ea typeface="Times New Roman"/>
                <a:cs typeface="Times New Roman"/>
                <a:sym typeface="Times New Roman"/>
              </a:defRPr>
            </a:pPr>
            <a:r>
              <a:t>Prof. Jyoti Yadav</a:t>
            </a:r>
          </a:p>
          <a:p>
            <a:pPr marL="0" indent="0" defTabSz="749808">
              <a:lnSpc>
                <a:spcPct val="100000"/>
              </a:lnSpc>
              <a:spcBef>
                <a:spcPts val="0"/>
              </a:spcBef>
              <a:defRPr b="1" sz="984">
                <a:latin typeface="Times New Roman"/>
                <a:ea typeface="Times New Roman"/>
                <a:cs typeface="Times New Roman"/>
                <a:sym typeface="Times New Roman"/>
              </a:defRPr>
            </a:pPr>
            <a:r>
              <a:t>Department of Computer Engineering</a:t>
            </a:r>
          </a:p>
          <a:p>
            <a:pPr marL="0" indent="0" defTabSz="749808">
              <a:lnSpc>
                <a:spcPct val="100000"/>
              </a:lnSpc>
              <a:spcBef>
                <a:spcPts val="0"/>
              </a:spcBef>
              <a:defRPr b="1" sz="984">
                <a:latin typeface="Times New Roman"/>
                <a:ea typeface="Times New Roman"/>
                <a:cs typeface="Times New Roman"/>
                <a:sym typeface="Times New Roman"/>
              </a:defRPr>
            </a:pPr>
            <a:r>
              <a:t>VIT Pune</a:t>
            </a:r>
          </a:p>
        </p:txBody>
      </p:sp>
      <p:grpSp>
        <p:nvGrpSpPr>
          <p:cNvPr id="119" name="Google Shape;90;p13"/>
          <p:cNvGrpSpPr/>
          <p:nvPr/>
        </p:nvGrpSpPr>
        <p:grpSpPr>
          <a:xfrm>
            <a:off x="249210" y="4021068"/>
            <a:ext cx="8645581" cy="420462"/>
            <a:chOff x="0" y="0"/>
            <a:chExt cx="8645580" cy="420461"/>
          </a:xfrm>
        </p:grpSpPr>
        <p:sp>
          <p:nvSpPr>
            <p:cNvPr id="117" name="Rectangle"/>
            <p:cNvSpPr/>
            <p:nvPr/>
          </p:nvSpPr>
          <p:spPr>
            <a:xfrm>
              <a:off x="0" y="-1"/>
              <a:ext cx="8645581" cy="420463"/>
            </a:xfrm>
            <a:prstGeom prst="rect">
              <a:avLst/>
            </a:prstGeom>
            <a:solidFill>
              <a:srgbClr val="25A2FF"/>
            </a:solidFill>
            <a:ln w="12700" cap="flat">
              <a:noFill/>
              <a:miter lim="400000"/>
            </a:ln>
            <a:effectLst/>
          </p:spPr>
          <p:txBody>
            <a:bodyPr wrap="square" lIns="45719" tIns="45719" rIns="45719" bIns="45719" numCol="1" anchor="t">
              <a:noAutofit/>
            </a:bodyPr>
            <a:lstStyle/>
            <a:p>
              <a:pPr algn="ctr">
                <a:lnSpc>
                  <a:spcPct val="90000"/>
                </a:lnSpc>
              </a:pPr>
            </a:p>
          </p:txBody>
        </p:sp>
        <p:sp>
          <p:nvSpPr>
            <p:cNvPr id="118" name="BRACT’S, Vishwakarma Institute of Technology, Pune-48"/>
            <p:cNvSpPr txBox="1"/>
            <p:nvPr/>
          </p:nvSpPr>
          <p:spPr>
            <a:xfrm>
              <a:off x="34300" y="-1"/>
              <a:ext cx="8576982" cy="352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75" tIns="34275" rIns="34275" bIns="34275" numCol="1" anchor="t">
              <a:spAutoFit/>
            </a:bodyPr>
            <a:lstStyle>
              <a:lvl1pPr algn="ctr">
                <a:lnSpc>
                  <a:spcPct val="90000"/>
                </a:lnSpc>
                <a:defRPr b="1" sz="2000">
                  <a:solidFill>
                    <a:srgbClr val="FFFFFF"/>
                  </a:solidFill>
                </a:defRPr>
              </a:lvl1pPr>
            </a:lstStyle>
            <a:p>
              <a:pPr/>
              <a:r>
                <a:t>BRACT’S, Vishwakarma Institute of Technology, Pune-48</a:t>
              </a:r>
            </a:p>
          </p:txBody>
        </p:sp>
      </p:grpSp>
      <p:pic>
        <p:nvPicPr>
          <p:cNvPr id="120" name="Google Shape;91;p13" descr="Google Shape;91;p13"/>
          <p:cNvPicPr>
            <a:picLocks noChangeAspect="1"/>
          </p:cNvPicPr>
          <p:nvPr/>
        </p:nvPicPr>
        <p:blipFill>
          <a:blip r:embed="rId2">
            <a:extLst/>
          </a:blip>
          <a:stretch>
            <a:fillRect/>
          </a:stretch>
        </p:blipFill>
        <p:spPr>
          <a:xfrm>
            <a:off x="160187" y="0"/>
            <a:ext cx="754214" cy="852803"/>
          </a:xfrm>
          <a:prstGeom prst="rect">
            <a:avLst/>
          </a:prstGeom>
          <a:ln w="12700">
            <a:miter lim="400000"/>
          </a:ln>
        </p:spPr>
      </p:pic>
      <p:sp>
        <p:nvSpPr>
          <p:cNvPr id="121" name="Google Shape;92;p13"/>
          <p:cNvSpPr txBox="1"/>
          <p:nvPr/>
        </p:nvSpPr>
        <p:spPr>
          <a:xfrm>
            <a:off x="452776" y="4427921"/>
            <a:ext cx="8257893" cy="49198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a:solidFill>
                  <a:srgbClr val="7F7F7F"/>
                </a:solidFill>
              </a:defRPr>
            </a:pPr>
            <a:r>
              <a:t>(An Autonomous Institute affiliated to Savitribai Phule Pune University)</a:t>
            </a:r>
          </a:p>
          <a:p>
            <a:pPr algn="ctr">
              <a:defRPr b="1">
                <a:solidFill>
                  <a:srgbClr val="7F7F7F"/>
                </a:solidFill>
              </a:defRPr>
            </a:pPr>
            <a:r>
              <a:t>(NBA and NAAC accredited, ISO 9001:2015 certified)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Google Shape;97;p14"/>
          <p:cNvSpPr txBox="1"/>
          <p:nvPr>
            <p:ph type="title"/>
          </p:nvPr>
        </p:nvSpPr>
        <p:spPr>
          <a:xfrm>
            <a:off x="532674" y="467016"/>
            <a:ext cx="7886701" cy="735414"/>
          </a:xfrm>
          <a:prstGeom prst="rect">
            <a:avLst/>
          </a:prstGeom>
        </p:spPr>
        <p:txBody>
          <a:bodyPr/>
          <a:lstStyle/>
          <a:p>
            <a:pPr algn="ctr" defTabSz="822959">
              <a:defRPr b="1" sz="2520">
                <a:solidFill>
                  <a:srgbClr val="464646"/>
                </a:solidFill>
                <a:latin typeface="Times New Roman"/>
                <a:ea typeface="Times New Roman"/>
                <a:cs typeface="Times New Roman"/>
                <a:sym typeface="Times New Roman"/>
              </a:defRPr>
            </a:pPr>
            <a:r>
              <a:t>Contents</a:t>
            </a:r>
            <a:br/>
          </a:p>
        </p:txBody>
      </p:sp>
      <p:sp>
        <p:nvSpPr>
          <p:cNvPr id="124" name="Google Shape;98;p14"/>
          <p:cNvSpPr txBox="1"/>
          <p:nvPr>
            <p:ph type="body" idx="1"/>
          </p:nvPr>
        </p:nvSpPr>
        <p:spPr>
          <a:xfrm>
            <a:off x="724625" y="958650"/>
            <a:ext cx="7733701" cy="3226200"/>
          </a:xfrm>
          <a:prstGeom prst="rect">
            <a:avLst/>
          </a:prstGeom>
        </p:spPr>
        <p:txBody>
          <a:bodyPr/>
          <a:lstStyle/>
          <a:p>
            <a:pPr marL="403543" indent="-285750">
              <a:lnSpc>
                <a:spcPct val="100000"/>
              </a:lnSpc>
              <a:spcBef>
                <a:spcPts val="1100"/>
              </a:spcBef>
              <a:buSzPts val="1700"/>
              <a:buFontTx/>
              <a:buChar char="▪"/>
              <a:defRPr sz="1700">
                <a:latin typeface="Times New Roman"/>
                <a:ea typeface="Times New Roman"/>
                <a:cs typeface="Times New Roman"/>
                <a:sym typeface="Times New Roman"/>
              </a:defRPr>
            </a:pPr>
          </a:p>
          <a:p>
            <a:pPr indent="-339406">
              <a:lnSpc>
                <a:spcPct val="100000"/>
              </a:lnSpc>
              <a:spcBef>
                <a:spcPts val="0"/>
              </a:spcBef>
              <a:buSzPts val="1700"/>
              <a:buFontTx/>
              <a:buChar char="▪"/>
              <a:defRPr sz="1700">
                <a:latin typeface="Times New Roman"/>
                <a:ea typeface="Times New Roman"/>
                <a:cs typeface="Times New Roman"/>
                <a:sym typeface="Times New Roman"/>
              </a:defRPr>
            </a:pPr>
            <a:r>
              <a:t>Introduction</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Literature Review </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Problem Statement</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Objective</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Proposed Framework/System Architecture</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Methodology</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Domain Knowledge/technology and tools being used </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Expected Outcome</a:t>
            </a:r>
          </a:p>
          <a:p>
            <a:pPr indent="-339406">
              <a:lnSpc>
                <a:spcPct val="100000"/>
              </a:lnSpc>
              <a:spcBef>
                <a:spcPts val="0"/>
              </a:spcBef>
              <a:buSzPts val="1700"/>
              <a:buFontTx/>
              <a:buChar char="▪"/>
              <a:defRPr sz="1700">
                <a:latin typeface="Times New Roman"/>
                <a:ea typeface="Times New Roman"/>
                <a:cs typeface="Times New Roman"/>
                <a:sym typeface="Times New Roman"/>
              </a:defRPr>
            </a:pPr>
            <a:r>
              <a:t>Conclusion</a:t>
            </a:r>
          </a:p>
        </p:txBody>
      </p:sp>
      <p:pic>
        <p:nvPicPr>
          <p:cNvPr id="125" name="Google Shape;99;p14" descr="Google Shape;99;p14"/>
          <p:cNvPicPr>
            <a:picLocks noChangeAspect="1"/>
          </p:cNvPicPr>
          <p:nvPr/>
        </p:nvPicPr>
        <p:blipFill>
          <a:blip r:embed="rId2">
            <a:extLst/>
          </a:blip>
          <a:stretch>
            <a:fillRect/>
          </a:stretch>
        </p:blipFill>
        <p:spPr>
          <a:xfrm>
            <a:off x="0" y="0"/>
            <a:ext cx="724624" cy="819346"/>
          </a:xfrm>
          <a:prstGeom prst="rect">
            <a:avLst/>
          </a:prstGeom>
          <a:ln w="12700">
            <a:miter lim="400000"/>
          </a:ln>
        </p:spPr>
      </p:pic>
      <p:grpSp>
        <p:nvGrpSpPr>
          <p:cNvPr id="128" name="Google Shape;100;p14"/>
          <p:cNvGrpSpPr/>
          <p:nvPr/>
        </p:nvGrpSpPr>
        <p:grpSpPr>
          <a:xfrm>
            <a:off x="0" y="4868419"/>
            <a:ext cx="9144000" cy="280760"/>
            <a:chOff x="0" y="0"/>
            <a:chExt cx="9144000" cy="280758"/>
          </a:xfrm>
        </p:grpSpPr>
        <p:sp>
          <p:nvSpPr>
            <p:cNvPr id="126"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27"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Google Shape;105;p15"/>
          <p:cNvSpPr txBox="1"/>
          <p:nvPr>
            <p:ph type="title"/>
          </p:nvPr>
        </p:nvSpPr>
        <p:spPr>
          <a:xfrm>
            <a:off x="0" y="84420"/>
            <a:ext cx="7886700" cy="994200"/>
          </a:xfrm>
          <a:prstGeom prst="rect">
            <a:avLst/>
          </a:prstGeom>
        </p:spPr>
        <p:txBody>
          <a:bodyPr/>
          <a:lstStyle>
            <a:lvl1pPr algn="ctr">
              <a:defRPr b="1">
                <a:latin typeface="Times New Roman"/>
                <a:ea typeface="Times New Roman"/>
                <a:cs typeface="Times New Roman"/>
                <a:sym typeface="Times New Roman"/>
              </a:defRPr>
            </a:lvl1pPr>
          </a:lstStyle>
          <a:p>
            <a:pPr/>
            <a:r>
              <a:t>Introduction</a:t>
            </a:r>
          </a:p>
        </p:txBody>
      </p:sp>
      <p:sp>
        <p:nvSpPr>
          <p:cNvPr id="131" name="Google Shape;106;p15"/>
          <p:cNvSpPr txBox="1"/>
          <p:nvPr>
            <p:ph type="body" idx="1"/>
          </p:nvPr>
        </p:nvSpPr>
        <p:spPr>
          <a:xfrm>
            <a:off x="209699" y="1060506"/>
            <a:ext cx="5026331" cy="3961801"/>
          </a:xfrm>
          <a:prstGeom prst="rect">
            <a:avLst/>
          </a:prstGeom>
        </p:spPr>
        <p:txBody>
          <a:bodyPr/>
          <a:lstStyle/>
          <a:p>
            <a:pPr>
              <a:buSzPts val="1600"/>
              <a:buFontTx/>
              <a:buChar char="▪"/>
              <a:defRPr sz="1600">
                <a:latin typeface="Times New Roman"/>
                <a:ea typeface="Times New Roman"/>
                <a:cs typeface="Times New Roman"/>
                <a:sym typeface="Times New Roman"/>
              </a:defRPr>
            </a:pPr>
            <a:r>
              <a:t>Insider threats are one of the biggest challenges for organizations today because they come from people who already have trusted access, like employees or contractors. </a:t>
            </a:r>
          </a:p>
          <a:p>
            <a:pPr>
              <a:buSzPts val="1600"/>
              <a:buFontTx/>
              <a:buChar char="▪"/>
              <a:defRPr sz="1600">
                <a:latin typeface="Times New Roman"/>
                <a:ea typeface="Times New Roman"/>
                <a:cs typeface="Times New Roman"/>
                <a:sym typeface="Times New Roman"/>
              </a:defRPr>
            </a:pPr>
            <a:r>
              <a:t>Most companies have experienced these incidents, and dealing with the damage can be very costly. Traditional security methods often fail to catch such threats since the activities look normal on the surface. </a:t>
            </a:r>
          </a:p>
          <a:p>
            <a:pPr>
              <a:buSzPts val="1600"/>
              <a:buFontTx/>
              <a:buChar char="▪"/>
              <a:defRPr sz="1600">
                <a:latin typeface="Times New Roman"/>
                <a:ea typeface="Times New Roman"/>
                <a:cs typeface="Times New Roman"/>
                <a:sym typeface="Times New Roman"/>
              </a:defRPr>
            </a:pPr>
            <a:r>
              <a:t>This is why AI and machine learning are so important—they can understand what “normal” behavior looks like, spot unusual patterns, and help organizations detect insider risks quickly and effectively.</a:t>
            </a:r>
          </a:p>
        </p:txBody>
      </p:sp>
      <p:grpSp>
        <p:nvGrpSpPr>
          <p:cNvPr id="134" name="Google Shape;107;p15"/>
          <p:cNvGrpSpPr/>
          <p:nvPr/>
        </p:nvGrpSpPr>
        <p:grpSpPr>
          <a:xfrm>
            <a:off x="0" y="4868419"/>
            <a:ext cx="9144000" cy="280760"/>
            <a:chOff x="0" y="0"/>
            <a:chExt cx="9144000" cy="280758"/>
          </a:xfrm>
        </p:grpSpPr>
        <p:sp>
          <p:nvSpPr>
            <p:cNvPr id="132"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33"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35" name="Google Shape;108;p15" descr="Google Shape;108;p15"/>
          <p:cNvPicPr>
            <a:picLocks noChangeAspect="1"/>
          </p:cNvPicPr>
          <p:nvPr/>
        </p:nvPicPr>
        <p:blipFill>
          <a:blip r:embed="rId2">
            <a:extLst/>
          </a:blip>
          <a:stretch>
            <a:fillRect/>
          </a:stretch>
        </p:blipFill>
        <p:spPr>
          <a:xfrm>
            <a:off x="0" y="0"/>
            <a:ext cx="724624" cy="819346"/>
          </a:xfrm>
          <a:prstGeom prst="rect">
            <a:avLst/>
          </a:prstGeom>
          <a:ln w="12700">
            <a:miter lim="400000"/>
          </a:ln>
        </p:spPr>
      </p:pic>
      <p:pic>
        <p:nvPicPr>
          <p:cNvPr id="136" name="Picture 8" descr="Picture 8"/>
          <p:cNvPicPr>
            <a:picLocks noChangeAspect="1"/>
          </p:cNvPicPr>
          <p:nvPr/>
        </p:nvPicPr>
        <p:blipFill>
          <a:blip r:embed="rId3">
            <a:extLst/>
          </a:blip>
          <a:stretch>
            <a:fillRect/>
          </a:stretch>
        </p:blipFill>
        <p:spPr>
          <a:xfrm>
            <a:off x="5864678" y="819343"/>
            <a:ext cx="3069622" cy="3990675"/>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122;p17"/>
          <p:cNvSpPr txBox="1"/>
          <p:nvPr>
            <p:ph type="title"/>
          </p:nvPr>
        </p:nvSpPr>
        <p:spPr>
          <a:xfrm>
            <a:off x="628650" y="273843"/>
            <a:ext cx="7886700" cy="750560"/>
          </a:xfrm>
          <a:prstGeom prst="rect">
            <a:avLst/>
          </a:prstGeom>
        </p:spPr>
        <p:txBody>
          <a:bodyPr/>
          <a:lstStyle>
            <a:lvl1pPr algn="ctr">
              <a:defRPr b="1">
                <a:latin typeface="Times New Roman"/>
                <a:ea typeface="Times New Roman"/>
                <a:cs typeface="Times New Roman"/>
                <a:sym typeface="Times New Roman"/>
              </a:defRPr>
            </a:lvl1pPr>
          </a:lstStyle>
          <a:p>
            <a:pPr/>
            <a:r>
              <a:t>Literature Survey And Research Gaps</a:t>
            </a:r>
          </a:p>
        </p:txBody>
      </p:sp>
      <p:grpSp>
        <p:nvGrpSpPr>
          <p:cNvPr id="141" name="Google Shape;123;p17"/>
          <p:cNvGrpSpPr/>
          <p:nvPr/>
        </p:nvGrpSpPr>
        <p:grpSpPr>
          <a:xfrm>
            <a:off x="0" y="4868419"/>
            <a:ext cx="9144000" cy="280760"/>
            <a:chOff x="0" y="0"/>
            <a:chExt cx="9144000" cy="280758"/>
          </a:xfrm>
        </p:grpSpPr>
        <p:sp>
          <p:nvSpPr>
            <p:cNvPr id="139"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40"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42" name="Google Shape;124;p17" descr="Google Shape;124;p17"/>
          <p:cNvPicPr>
            <a:picLocks noChangeAspect="1"/>
          </p:cNvPicPr>
          <p:nvPr/>
        </p:nvPicPr>
        <p:blipFill>
          <a:blip r:embed="rId2">
            <a:extLst/>
          </a:blip>
          <a:stretch>
            <a:fillRect/>
          </a:stretch>
        </p:blipFill>
        <p:spPr>
          <a:xfrm>
            <a:off x="0" y="0"/>
            <a:ext cx="724624" cy="819346"/>
          </a:xfrm>
          <a:prstGeom prst="rect">
            <a:avLst/>
          </a:prstGeom>
          <a:ln w="12700">
            <a:miter lim="400000"/>
          </a:ln>
        </p:spPr>
      </p:pic>
      <p:graphicFrame>
        <p:nvGraphicFramePr>
          <p:cNvPr id="143" name="Table 4"/>
          <p:cNvGraphicFramePr/>
          <p:nvPr/>
        </p:nvGraphicFramePr>
        <p:xfrm>
          <a:off x="1164770" y="1279525"/>
          <a:ext cx="6487886" cy="176530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632858"/>
                <a:gridCol w="1551213"/>
                <a:gridCol w="1651906"/>
                <a:gridCol w="1651906"/>
              </a:tblGrid>
              <a:tr h="473075">
                <a:tc>
                  <a:txBody>
                    <a:bodyPr/>
                    <a:lstStyle/>
                    <a:p>
                      <a:pPr algn="l">
                        <a:defRPr sz="1800"/>
                      </a:pPr>
                      <a:r>
                        <a:rPr sz="1400">
                          <a:latin typeface="Times New Roman"/>
                          <a:ea typeface="Times New Roman"/>
                          <a:cs typeface="Times New Roman"/>
                          <a:sym typeface="Times New Roman"/>
                        </a:rPr>
                        <a:t>Paper Title (Year)</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Approach</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Key Findings</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Research Gaps</a:t>
                      </a:r>
                    </a:p>
                  </a:txBody>
                  <a:tcPr marL="45720" marR="45720" marT="45720" marB="45720" anchor="t" anchorCtr="0" horzOverflow="overflow"/>
                </a:tc>
              </a:tr>
              <a:tr h="1292225">
                <a:tc>
                  <a:txBody>
                    <a:bodyPr/>
                    <a:lstStyle/>
                    <a:p>
                      <a:pPr algn="l">
                        <a:defRPr sz="1800"/>
                      </a:pPr>
                      <a:r>
                        <a:rPr sz="1400">
                          <a:latin typeface="Times New Roman"/>
                          <a:ea typeface="Times New Roman"/>
                          <a:cs typeface="Times New Roman"/>
                          <a:sym typeface="Times New Roman"/>
                        </a:rPr>
                        <a:t>LSTM for Behavioral Insider Threat Detection — [S. Paul et al.(arXiv)(2025) ]</a:t>
                      </a:r>
                    </a:p>
                  </a:txBody>
                  <a:tcPr marL="45720" marR="45720" marT="45720" marB="45720" anchor="t" anchorCtr="0" horzOverflow="overflow"/>
                </a:tc>
                <a:tc>
                  <a:txBody>
                    <a:bodyPr/>
                    <a:lstStyle/>
                    <a:p>
                      <a:pPr algn="l">
                        <a:defRPr sz="1400">
                          <a:latin typeface="Times New Roman"/>
                          <a:ea typeface="Times New Roman"/>
                          <a:cs typeface="Times New Roman"/>
                          <a:sym typeface="Times New Roman"/>
                        </a:defRPr>
                      </a:pPr>
                      <a:r>
                        <a:rPr b="1"/>
                        <a:t>unsupervised LSTM </a:t>
                      </a:r>
                      <a:r>
                        <a:t>trained on per-user time-series of activities (day-wise sequences).</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The model learns “normal” user routines and flags significant reconstruction loss as anomalous insider behavior.</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This approach often leads to a high number of false positives, as even minor legitimate changes in an employee’s work pattern—arising from new tasks or role shifts</a:t>
                      </a:r>
                    </a:p>
                  </a:txBody>
                  <a:tcPr marL="45720" marR="45720" marT="45720" marB="45720" anchor="t" anchorCtr="0" horzOverflow="overflow"/>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47" name="Google Shape;131;p18"/>
          <p:cNvGrpSpPr/>
          <p:nvPr/>
        </p:nvGrpSpPr>
        <p:grpSpPr>
          <a:xfrm>
            <a:off x="0" y="4868374"/>
            <a:ext cx="9144000" cy="280760"/>
            <a:chOff x="0" y="0"/>
            <a:chExt cx="9144000" cy="280758"/>
          </a:xfrm>
        </p:grpSpPr>
        <p:sp>
          <p:nvSpPr>
            <p:cNvPr id="145" name="Rectangle"/>
            <p:cNvSpPr/>
            <p:nvPr/>
          </p:nvSpPr>
          <p:spPr>
            <a:xfrm>
              <a:off x="0" y="14079"/>
              <a:ext cx="9144000" cy="252600"/>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46" name="Department of Computer Engineering, VIT, Pune-48"/>
            <p:cNvSpPr txBox="1"/>
            <p:nvPr/>
          </p:nvSpPr>
          <p:spPr>
            <a:xfrm>
              <a:off x="45724" y="0"/>
              <a:ext cx="9052551" cy="280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48" name="Google Shape;132;p18" descr="Google Shape;132;p18"/>
          <p:cNvPicPr>
            <a:picLocks noChangeAspect="1"/>
          </p:cNvPicPr>
          <p:nvPr/>
        </p:nvPicPr>
        <p:blipFill>
          <a:blip r:embed="rId2">
            <a:extLst/>
          </a:blip>
          <a:stretch>
            <a:fillRect/>
          </a:stretch>
        </p:blipFill>
        <p:spPr>
          <a:xfrm>
            <a:off x="0" y="0"/>
            <a:ext cx="724624" cy="819346"/>
          </a:xfrm>
          <a:prstGeom prst="rect">
            <a:avLst/>
          </a:prstGeom>
          <a:ln w="12700">
            <a:miter lim="400000"/>
          </a:ln>
        </p:spPr>
      </p:pic>
      <p:graphicFrame>
        <p:nvGraphicFramePr>
          <p:cNvPr id="149" name="Table 5"/>
          <p:cNvGraphicFramePr/>
          <p:nvPr/>
        </p:nvGraphicFramePr>
        <p:xfrm>
          <a:off x="555350" y="992065"/>
          <a:ext cx="8304170" cy="111252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19864"/>
                <a:gridCol w="1932220"/>
                <a:gridCol w="2076042"/>
                <a:gridCol w="2076042"/>
              </a:tblGrid>
              <a:tr h="370840">
                <a:tc>
                  <a:txBody>
                    <a:bodyPr/>
                    <a:lstStyle/>
                    <a:p>
                      <a:pPr algn="l">
                        <a:defRPr sz="1800"/>
                      </a:pPr>
                      <a:r>
                        <a:rPr sz="1400">
                          <a:latin typeface="Times New Roman"/>
                          <a:ea typeface="Times New Roman"/>
                          <a:cs typeface="Times New Roman"/>
                          <a:sym typeface="Times New Roman"/>
                        </a:rPr>
                        <a:t>Paper Title (Year)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Approach</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Key Findings</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Research Gaps</a:t>
                      </a:r>
                    </a:p>
                  </a:txBody>
                  <a:tcPr marL="45720" marR="45720" marT="45720" marB="45720" anchor="t" anchorCtr="0" horzOverflow="overflow"/>
                </a:tc>
              </a:tr>
              <a:tr h="370840">
                <a:tc>
                  <a:txBody>
                    <a:bodyPr/>
                    <a:lstStyle/>
                    <a:p>
                      <a:pPr algn="l">
                        <a:defRPr sz="1800"/>
                      </a:pPr>
                      <a:r>
                        <a:rPr sz="1400">
                          <a:latin typeface="Times New Roman"/>
                          <a:ea typeface="Times New Roman"/>
                          <a:cs typeface="Times New Roman"/>
                          <a:sym typeface="Times New Roman"/>
                        </a:rPr>
                        <a:t>Research on insider threat detection based on personalized federated learning and behavior log analysis(2025)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Federated Learning framework using DeepInsight (converting logs to images) + CNNs to train models across multiple sites without sharing raw data.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Improved accuracy and recall by leveraging distributed data while preserving privacy.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High computational cost; data heterogeneity (nonIID) can lead to suboptimal model convergence.</a:t>
                      </a:r>
                    </a:p>
                  </a:txBody>
                  <a:tcPr marL="45720" marR="45720" marT="45720" marB="45720" anchor="t" anchorCtr="0" horzOverflow="overflow"/>
                </a:tc>
              </a:tr>
              <a:tr h="370840">
                <a:tc>
                  <a:txBody>
                    <a:bodyPr/>
                    <a:lstStyle/>
                    <a:p>
                      <a:pPr algn="l">
                        <a:defRPr sz="1800"/>
                      </a:pPr>
                      <a:r>
                        <a:rPr sz="1400">
                          <a:latin typeface="Times New Roman"/>
                          <a:ea typeface="Times New Roman"/>
                          <a:cs typeface="Times New Roman"/>
                          <a:sym typeface="Times New Roman"/>
                        </a:rPr>
                        <a:t>Insider Threat Detection Using Machine Learning Approach (2023)</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Deep feature synthesis (automated feature engineering) + ML (anomaly detectors and SVM) on the CERT insider threat dataset.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Anomaly model reached ~91% accuracy, and the SVM classifier achieved up to 97% accuracy in tests. </a:t>
                      </a:r>
                    </a:p>
                  </a:txBody>
                  <a:tcPr marL="45720" marR="45720" marT="45720" marB="45720" anchor="t" anchorCtr="0" horzOverflow="overflow"/>
                </a:tc>
                <a:tc>
                  <a:txBody>
                    <a:bodyPr/>
                    <a:lstStyle/>
                    <a:p>
                      <a:pPr algn="l">
                        <a:defRPr sz="1800"/>
                      </a:pPr>
                      <a:r>
                        <a:rPr sz="1400">
                          <a:latin typeface="Times New Roman"/>
                          <a:ea typeface="Times New Roman"/>
                          <a:cs typeface="Times New Roman"/>
                          <a:sym typeface="Times New Roman"/>
                        </a:rPr>
                        <a:t>Evaluated on a static public dataset; risk of overfitting. Doesn’t address online/adaptive learning or real-world deployment.</a:t>
                      </a:r>
                    </a:p>
                  </a:txBody>
                  <a:tcPr marL="45720" marR="45720" marT="45720" marB="45720" anchor="t" anchorCtr="0" horzOverflow="overflow"/>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Google Shape;138;p19"/>
          <p:cNvSpPr txBox="1"/>
          <p:nvPr>
            <p:ph type="title"/>
          </p:nvPr>
        </p:nvSpPr>
        <p:spPr>
          <a:xfrm>
            <a:off x="1878329" y="278675"/>
            <a:ext cx="4989831" cy="750602"/>
          </a:xfrm>
          <a:prstGeom prst="rect">
            <a:avLst/>
          </a:prstGeom>
        </p:spPr>
        <p:txBody>
          <a:bodyPr/>
          <a:lstStyle>
            <a:lvl1pPr indent="117793">
              <a:lnSpc>
                <a:spcPct val="100000"/>
              </a:lnSpc>
              <a:defRPr b="1">
                <a:latin typeface="Times New Roman"/>
                <a:ea typeface="Times New Roman"/>
                <a:cs typeface="Times New Roman"/>
                <a:sym typeface="Times New Roman"/>
              </a:defRPr>
            </a:lvl1pPr>
          </a:lstStyle>
          <a:p>
            <a:pPr/>
            <a:r>
              <a:t>Problem Statement</a:t>
            </a:r>
          </a:p>
        </p:txBody>
      </p:sp>
      <p:grpSp>
        <p:nvGrpSpPr>
          <p:cNvPr id="154" name="Google Shape;139;p19"/>
          <p:cNvGrpSpPr/>
          <p:nvPr/>
        </p:nvGrpSpPr>
        <p:grpSpPr>
          <a:xfrm>
            <a:off x="0" y="4868374"/>
            <a:ext cx="9144000" cy="280760"/>
            <a:chOff x="0" y="0"/>
            <a:chExt cx="9144000" cy="280758"/>
          </a:xfrm>
        </p:grpSpPr>
        <p:sp>
          <p:nvSpPr>
            <p:cNvPr id="152" name="Rectangle"/>
            <p:cNvSpPr/>
            <p:nvPr/>
          </p:nvSpPr>
          <p:spPr>
            <a:xfrm>
              <a:off x="0" y="14079"/>
              <a:ext cx="9144000" cy="252600"/>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53" name="Department of Computer Engineering, VIT, Pune-48"/>
            <p:cNvSpPr txBox="1"/>
            <p:nvPr/>
          </p:nvSpPr>
          <p:spPr>
            <a:xfrm>
              <a:off x="45724" y="0"/>
              <a:ext cx="9052551" cy="280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55" name="Google Shape;140;p19" descr="Google Shape;140;p19"/>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56" name="Rectangle 6"/>
          <p:cNvSpPr txBox="1"/>
          <p:nvPr/>
        </p:nvSpPr>
        <p:spPr>
          <a:xfrm>
            <a:off x="408031" y="1174204"/>
            <a:ext cx="7684408" cy="28260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285750" indent="-285750">
              <a:buSzPct val="100000"/>
              <a:buChar char="▪"/>
              <a:defRPr sz="1600">
                <a:latin typeface="Times New Roman"/>
                <a:ea typeface="Times New Roman"/>
                <a:cs typeface="Times New Roman"/>
                <a:sym typeface="Times New Roman"/>
              </a:defRPr>
            </a:pPr>
            <a:r>
              <a:t>Insider threats have become one of the toughest challenges for modern IT enterprises. Unlike external attacks, these threats come from trusted users who already have access to sensitive systems. </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Existing solutions like SIEM, UEBA, and DLP mostly rely on static rules. </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As a result, they either flood security teams with too many false alerts or fail to detect subtle, malicious activities. </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What organizations really need is an intelligent system that can continuously monitor user and system activity, understand context, adapt to new attack patterns, and give timely, accurate alerts without disrupting normal operations.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Google Shape;138;p19"/>
          <p:cNvSpPr txBox="1"/>
          <p:nvPr>
            <p:ph type="title"/>
          </p:nvPr>
        </p:nvSpPr>
        <p:spPr>
          <a:xfrm>
            <a:off x="628650" y="244368"/>
            <a:ext cx="7886700" cy="750602"/>
          </a:xfrm>
          <a:prstGeom prst="rect">
            <a:avLst/>
          </a:prstGeom>
        </p:spPr>
        <p:txBody>
          <a:bodyPr/>
          <a:lstStyle>
            <a:lvl1pPr algn="ctr">
              <a:defRPr b="1">
                <a:latin typeface="Times New Roman"/>
                <a:ea typeface="Times New Roman"/>
                <a:cs typeface="Times New Roman"/>
                <a:sym typeface="Times New Roman"/>
              </a:defRPr>
            </a:lvl1pPr>
          </a:lstStyle>
          <a:p>
            <a:pPr/>
            <a:r>
              <a:t>Objectives</a:t>
            </a:r>
          </a:p>
        </p:txBody>
      </p:sp>
      <p:grpSp>
        <p:nvGrpSpPr>
          <p:cNvPr id="161" name="Google Shape;139;p19"/>
          <p:cNvGrpSpPr/>
          <p:nvPr/>
        </p:nvGrpSpPr>
        <p:grpSpPr>
          <a:xfrm>
            <a:off x="0" y="4868374"/>
            <a:ext cx="9144000" cy="280760"/>
            <a:chOff x="0" y="0"/>
            <a:chExt cx="9144000" cy="280758"/>
          </a:xfrm>
        </p:grpSpPr>
        <p:sp>
          <p:nvSpPr>
            <p:cNvPr id="159" name="Rectangle"/>
            <p:cNvSpPr/>
            <p:nvPr/>
          </p:nvSpPr>
          <p:spPr>
            <a:xfrm>
              <a:off x="0" y="14079"/>
              <a:ext cx="9144000" cy="252600"/>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60" name="Department of Computer Engineering, VIT, Pune-48"/>
            <p:cNvSpPr txBox="1"/>
            <p:nvPr/>
          </p:nvSpPr>
          <p:spPr>
            <a:xfrm>
              <a:off x="45724" y="0"/>
              <a:ext cx="9052551" cy="280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62" name="Google Shape;140;p19" descr="Google Shape;140;p19"/>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63" name="Rectangle 6"/>
          <p:cNvSpPr txBox="1"/>
          <p:nvPr/>
        </p:nvSpPr>
        <p:spPr>
          <a:xfrm>
            <a:off x="1321822" y="571036"/>
            <a:ext cx="4460240" cy="32832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Risk scoring &amp; alerts: Prioritize threats with dynamic risk scores. </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Reduce false positives: Improve accuracy using feedback. </a:t>
            </a:r>
          </a:p>
          <a:p>
            <a:pP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Multiple models trained for various use cases </a:t>
            </a:r>
          </a:p>
          <a:p>
            <a:pP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Train models on dynamic datasets to reduce overfitting .</a:t>
            </a:r>
          </a:p>
          <a:p>
            <a:pPr marL="285750" indent="-285750">
              <a:buSzPct val="100000"/>
              <a:buChar char="▪"/>
              <a:defRPr sz="1600">
                <a:latin typeface="Times New Roman"/>
                <a:ea typeface="Times New Roman"/>
                <a:cs typeface="Times New Roman"/>
                <a:sym typeface="Times New Roman"/>
              </a:defRPr>
            </a:pPr>
          </a:p>
        </p:txBody>
      </p:sp>
      <p:pic>
        <p:nvPicPr>
          <p:cNvPr id="164" name="Picture 2" descr="Picture 2"/>
          <p:cNvPicPr>
            <a:picLocks noChangeAspect="1"/>
          </p:cNvPicPr>
          <p:nvPr/>
        </p:nvPicPr>
        <p:blipFill>
          <a:blip r:embed="rId3">
            <a:extLst/>
          </a:blip>
          <a:stretch>
            <a:fillRect/>
          </a:stretch>
        </p:blipFill>
        <p:spPr>
          <a:xfrm>
            <a:off x="5934709" y="818732"/>
            <a:ext cx="3021748" cy="3021748"/>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oogle Shape;153;p21"/>
          <p:cNvSpPr txBox="1"/>
          <p:nvPr>
            <p:ph type="title"/>
          </p:nvPr>
        </p:nvSpPr>
        <p:spPr>
          <a:xfrm>
            <a:off x="628650" y="261647"/>
            <a:ext cx="7886700" cy="845702"/>
          </a:xfrm>
          <a:prstGeom prst="rect">
            <a:avLst/>
          </a:prstGeom>
        </p:spPr>
        <p:txBody>
          <a:bodyPr/>
          <a:lstStyle>
            <a:lvl1pPr algn="ctr">
              <a:defRPr b="1" sz="3600">
                <a:latin typeface="Times New Roman"/>
                <a:ea typeface="Times New Roman"/>
                <a:cs typeface="Times New Roman"/>
                <a:sym typeface="Times New Roman"/>
              </a:defRPr>
            </a:lvl1pPr>
          </a:lstStyle>
          <a:p>
            <a:pPr/>
            <a:r>
              <a:t>System Architecture </a:t>
            </a:r>
          </a:p>
        </p:txBody>
      </p:sp>
      <p:grpSp>
        <p:nvGrpSpPr>
          <p:cNvPr id="169" name="Google Shape;155;p21"/>
          <p:cNvGrpSpPr/>
          <p:nvPr/>
        </p:nvGrpSpPr>
        <p:grpSpPr>
          <a:xfrm>
            <a:off x="0" y="4868374"/>
            <a:ext cx="9144000" cy="280760"/>
            <a:chOff x="0" y="0"/>
            <a:chExt cx="9144000" cy="280758"/>
          </a:xfrm>
        </p:grpSpPr>
        <p:sp>
          <p:nvSpPr>
            <p:cNvPr id="167" name="Rectangle"/>
            <p:cNvSpPr/>
            <p:nvPr/>
          </p:nvSpPr>
          <p:spPr>
            <a:xfrm>
              <a:off x="0" y="14079"/>
              <a:ext cx="9144000" cy="252600"/>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68" name="Department of Computer Engineering, VIT, Pune-48"/>
            <p:cNvSpPr txBox="1"/>
            <p:nvPr/>
          </p:nvSpPr>
          <p:spPr>
            <a:xfrm>
              <a:off x="45724" y="0"/>
              <a:ext cx="9052551" cy="280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70" name="Google Shape;156;p21" descr="Google Shape;156;p21"/>
          <p:cNvPicPr>
            <a:picLocks noChangeAspect="1"/>
          </p:cNvPicPr>
          <p:nvPr/>
        </p:nvPicPr>
        <p:blipFill>
          <a:blip r:embed="rId2">
            <a:extLst/>
          </a:blip>
          <a:stretch>
            <a:fillRect/>
          </a:stretch>
        </p:blipFill>
        <p:spPr>
          <a:xfrm>
            <a:off x="0" y="0"/>
            <a:ext cx="724624" cy="819346"/>
          </a:xfrm>
          <a:prstGeom prst="rect">
            <a:avLst/>
          </a:prstGeom>
          <a:ln w="12700">
            <a:miter lim="400000"/>
          </a:ln>
        </p:spPr>
      </p:pic>
      <p:pic>
        <p:nvPicPr>
          <p:cNvPr id="171" name="Picture 7" descr="Picture 7"/>
          <p:cNvPicPr>
            <a:picLocks noChangeAspect="1"/>
          </p:cNvPicPr>
          <p:nvPr/>
        </p:nvPicPr>
        <p:blipFill>
          <a:blip r:embed="rId3">
            <a:extLst/>
          </a:blip>
          <a:stretch>
            <a:fillRect/>
          </a:stretch>
        </p:blipFill>
        <p:spPr>
          <a:xfrm>
            <a:off x="628650" y="650982"/>
            <a:ext cx="7976869" cy="394347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Google Shape;146;p20"/>
          <p:cNvSpPr txBox="1"/>
          <p:nvPr>
            <p:ph type="title"/>
          </p:nvPr>
        </p:nvSpPr>
        <p:spPr>
          <a:xfrm>
            <a:off x="1312450" y="152399"/>
            <a:ext cx="5118830" cy="629124"/>
          </a:xfrm>
          <a:prstGeom prst="rect">
            <a:avLst/>
          </a:prstGeom>
        </p:spPr>
        <p:txBody>
          <a:bodyPr/>
          <a:lstStyle>
            <a:lvl1pPr algn="ctr">
              <a:defRPr b="1" sz="2400">
                <a:latin typeface="Times New Roman"/>
                <a:ea typeface="Times New Roman"/>
                <a:cs typeface="Times New Roman"/>
                <a:sym typeface="Times New Roman"/>
              </a:defRPr>
            </a:lvl1pPr>
          </a:lstStyle>
          <a:p>
            <a:pPr/>
            <a:r>
              <a:t>Methodology</a:t>
            </a:r>
          </a:p>
        </p:txBody>
      </p:sp>
      <p:pic>
        <p:nvPicPr>
          <p:cNvPr id="174" name="Google Shape;147;p20" descr="Google Shape;147;p20"/>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75" name="Rectangle 1"/>
          <p:cNvSpPr txBox="1"/>
          <p:nvPr/>
        </p:nvSpPr>
        <p:spPr>
          <a:xfrm>
            <a:off x="770343" y="946004"/>
            <a:ext cx="7129057" cy="41478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285750" indent="-285750">
              <a:buSzPct val="100000"/>
              <a:buChar char="▪"/>
              <a:defRPr b="1">
                <a:latin typeface="Times New Roman"/>
                <a:ea typeface="Times New Roman"/>
                <a:cs typeface="Times New Roman"/>
                <a:sym typeface="Times New Roman"/>
              </a:defRPr>
            </a:pPr>
            <a:r>
              <a:t>Data Preparation:</a:t>
            </a:r>
          </a:p>
          <a:p>
            <a:pPr marL="285750" indent="-285750">
              <a:buSzPct val="100000"/>
              <a:buChar char="▪"/>
              <a:defRPr>
                <a:latin typeface="Times New Roman"/>
                <a:ea typeface="Times New Roman"/>
                <a:cs typeface="Times New Roman"/>
                <a:sym typeface="Times New Roman"/>
              </a:defRPr>
            </a:pPr>
            <a:r>
              <a:t>Use CSV logs: logins.csv, file_access.csv, usb_usage.csv.</a:t>
            </a:r>
          </a:p>
          <a:p>
            <a:pPr marL="285750" indent="-285750">
              <a:buSzPct val="100000"/>
              <a:buChar char="▪"/>
              <a:defRPr>
                <a:latin typeface="Times New Roman"/>
                <a:ea typeface="Times New Roman"/>
                <a:cs typeface="Times New Roman"/>
                <a:sym typeface="Times New Roman"/>
              </a:defRPr>
            </a:pPr>
            <a:r>
              <a:t>Data is synthetic to avoid privacy issues.</a:t>
            </a:r>
          </a:p>
          <a:p>
            <a:pPr marL="285750" indent="-285750">
              <a:buSzPct val="100000"/>
              <a:buChar char="▪"/>
              <a:defRPr>
                <a:latin typeface="Times New Roman"/>
                <a:ea typeface="Times New Roman"/>
                <a:cs typeface="Times New Roman"/>
                <a:sym typeface="Times New Roman"/>
              </a:defRPr>
            </a:pPr>
          </a:p>
          <a:p>
            <a:pPr marL="285750" indent="-285750">
              <a:buSzPct val="100000"/>
              <a:buChar char="▪"/>
              <a:defRPr b="1">
                <a:latin typeface="Times New Roman"/>
                <a:ea typeface="Times New Roman"/>
                <a:cs typeface="Times New Roman"/>
                <a:sym typeface="Times New Roman"/>
              </a:defRPr>
            </a:pPr>
            <a:r>
              <a:t>Red Team Simulation:</a:t>
            </a:r>
          </a:p>
          <a:p>
            <a:pPr marL="285750" indent="-285750">
              <a:buSzPct val="100000"/>
              <a:buChar char="▪"/>
              <a:defRPr>
                <a:latin typeface="Times New Roman"/>
                <a:ea typeface="Times New Roman"/>
                <a:cs typeface="Times New Roman"/>
                <a:sym typeface="Times New Roman"/>
              </a:defRPr>
            </a:pPr>
            <a:r>
              <a:t>Select few users as malicious.</a:t>
            </a:r>
          </a:p>
          <a:p>
            <a:pPr marL="285750" indent="-285750">
              <a:buSzPct val="100000"/>
              <a:buChar char="▪"/>
              <a:defRPr>
                <a:latin typeface="Times New Roman"/>
                <a:ea typeface="Times New Roman"/>
                <a:cs typeface="Times New Roman"/>
                <a:sym typeface="Times New Roman"/>
              </a:defRPr>
            </a:pPr>
            <a:r>
              <a:t>Inject after-hours file access, mass downloads, suspicious USB events.</a:t>
            </a:r>
          </a:p>
          <a:p>
            <a:pPr marL="285750" indent="-285750">
              <a:buSzPct val="100000"/>
              <a:buChar char="▪"/>
              <a:defRPr>
                <a:latin typeface="Times New Roman"/>
                <a:ea typeface="Times New Roman"/>
                <a:cs typeface="Times New Roman"/>
                <a:sym typeface="Times New Roman"/>
              </a:defRPr>
            </a:pPr>
          </a:p>
          <a:p>
            <a:pPr marL="285750" indent="-285750">
              <a:buSzPct val="100000"/>
              <a:buChar char="▪"/>
              <a:defRPr b="1">
                <a:latin typeface="Times New Roman"/>
                <a:ea typeface="Times New Roman"/>
                <a:cs typeface="Times New Roman"/>
                <a:sym typeface="Times New Roman"/>
              </a:defRPr>
            </a:pPr>
            <a:r>
              <a:t>Feature Engineering:</a:t>
            </a:r>
          </a:p>
          <a:p>
            <a:pPr marL="285750" indent="-285750">
              <a:buSzPct val="100000"/>
              <a:buChar char="▪"/>
              <a:defRPr>
                <a:latin typeface="Times New Roman"/>
                <a:ea typeface="Times New Roman"/>
                <a:cs typeface="Times New Roman"/>
                <a:sym typeface="Times New Roman"/>
              </a:defRPr>
            </a:pPr>
            <a:r>
              <a:t>Merge multiple logs to extract behavior patterns.</a:t>
            </a:r>
          </a:p>
          <a:p>
            <a:pPr marL="285750" indent="-285750">
              <a:buSzPct val="100000"/>
              <a:buChar char="▪"/>
              <a:defRPr>
                <a:latin typeface="Times New Roman"/>
                <a:ea typeface="Times New Roman"/>
                <a:cs typeface="Times New Roman"/>
                <a:sym typeface="Times New Roman"/>
              </a:defRPr>
            </a:pPr>
            <a:r>
              <a:t>Examples: login frequency, files accessed at odd hours, USB usage.</a:t>
            </a:r>
          </a:p>
          <a:p>
            <a:pPr marL="285750" indent="-285750">
              <a:buSzPct val="100000"/>
              <a:buChar char="▪"/>
              <a:defRPr>
                <a:latin typeface="Times New Roman"/>
                <a:ea typeface="Times New Roman"/>
                <a:cs typeface="Times New Roman"/>
                <a:sym typeface="Times New Roman"/>
              </a:defRPr>
            </a:pPr>
          </a:p>
          <a:p>
            <a:pPr marL="285750" indent="-285750">
              <a:buSzPct val="100000"/>
              <a:buChar char="▪"/>
              <a:defRPr b="1">
                <a:latin typeface="Times New Roman"/>
                <a:ea typeface="Times New Roman"/>
                <a:cs typeface="Times New Roman"/>
                <a:sym typeface="Times New Roman"/>
              </a:defRPr>
            </a:pPr>
            <a:r>
              <a:t>Model Training:</a:t>
            </a:r>
          </a:p>
          <a:p>
            <a:pPr marL="285750" indent="-285750">
              <a:buSzPct val="100000"/>
              <a:buChar char="▪"/>
              <a:defRPr>
                <a:latin typeface="Times New Roman"/>
                <a:ea typeface="Times New Roman"/>
                <a:cs typeface="Times New Roman"/>
                <a:sym typeface="Times New Roman"/>
              </a:defRPr>
            </a:pPr>
            <a:r>
              <a:t>Train ML model (e.g., Isolation Forest / anomaly detection algorithm).</a:t>
            </a:r>
          </a:p>
          <a:p>
            <a:pPr marL="285750" indent="-285750">
              <a:buSzPct val="100000"/>
              <a:buChar char="▪"/>
              <a:defRPr>
                <a:latin typeface="Times New Roman"/>
                <a:ea typeface="Times New Roman"/>
                <a:cs typeface="Times New Roman"/>
                <a:sym typeface="Times New Roman"/>
              </a:defRPr>
            </a:pPr>
            <a:r>
              <a:t>Output: anomaly_scores.csv for each user.</a:t>
            </a:r>
          </a:p>
          <a:p>
            <a:pPr marL="285750" indent="-285750">
              <a:buSzPct val="100000"/>
              <a:buChar char="▪"/>
              <a:defRPr>
                <a:latin typeface="Times New Roman"/>
                <a:ea typeface="Times New Roman"/>
                <a:cs typeface="Times New Roman"/>
                <a:sym typeface="Times New Roman"/>
              </a:defRPr>
            </a:pPr>
          </a:p>
          <a:p>
            <a:pPr marL="285750" indent="-285750">
              <a:buSzPct val="100000"/>
              <a:buChar char="▪"/>
              <a:defRPr b="1">
                <a:latin typeface="Times New Roman"/>
                <a:ea typeface="Times New Roman"/>
                <a:cs typeface="Times New Roman"/>
                <a:sym typeface="Times New Roman"/>
              </a:defRPr>
            </a:pPr>
            <a:r>
              <a:t>Dashboard Visualization:</a:t>
            </a:r>
          </a:p>
          <a:p>
            <a:pPr marL="285750" indent="-285750">
              <a:buSzPct val="100000"/>
              <a:buChar char="▪"/>
              <a:defRPr>
                <a:latin typeface="Times New Roman"/>
                <a:ea typeface="Times New Roman"/>
                <a:cs typeface="Times New Roman"/>
                <a:sym typeface="Times New Roman"/>
              </a:defRPr>
            </a:pPr>
            <a:r>
              <a:t>Display red-team users, anomaly scores, file/USB access patterns.</a:t>
            </a:r>
          </a:p>
          <a:p>
            <a:pPr marL="285750" indent="-285750">
              <a:buSzPct val="100000"/>
              <a:buChar char="▪"/>
              <a:defRPr>
                <a:latin typeface="Times New Roman"/>
                <a:ea typeface="Times New Roman"/>
                <a:cs typeface="Times New Roman"/>
                <a:sym typeface="Times New Roman"/>
              </a:defRPr>
            </a:pPr>
            <a:r>
              <a:t>Provides actionable insights for security monitoring.</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7" name="Google Shape;193;p25" descr="Google Shape;193;p25"/>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78" name="Google Shape;194;p25"/>
          <p:cNvSpPr txBox="1"/>
          <p:nvPr>
            <p:ph type="title"/>
          </p:nvPr>
        </p:nvSpPr>
        <p:spPr>
          <a:xfrm>
            <a:off x="628650" y="-1"/>
            <a:ext cx="7886700" cy="845702"/>
          </a:xfrm>
          <a:prstGeom prst="rect">
            <a:avLst/>
          </a:prstGeom>
        </p:spPr>
        <p:txBody>
          <a:bodyPr/>
          <a:lstStyle>
            <a:lvl1pPr algn="ctr">
              <a:defRPr b="1">
                <a:latin typeface="Times New Roman"/>
                <a:ea typeface="Times New Roman"/>
                <a:cs typeface="Times New Roman"/>
                <a:sym typeface="Times New Roman"/>
              </a:defRPr>
            </a:lvl1pPr>
          </a:lstStyle>
          <a:p>
            <a:pPr/>
            <a:r>
              <a:t>Evaluation Results</a:t>
            </a:r>
          </a:p>
        </p:txBody>
      </p:sp>
      <p:pic>
        <p:nvPicPr>
          <p:cNvPr id="179" name="Picture 2" descr="Picture 2"/>
          <p:cNvPicPr>
            <a:picLocks noChangeAspect="1"/>
          </p:cNvPicPr>
          <p:nvPr/>
        </p:nvPicPr>
        <p:blipFill>
          <a:blip r:embed="rId3">
            <a:extLst/>
          </a:blip>
          <a:stretch>
            <a:fillRect/>
          </a:stretch>
        </p:blipFill>
        <p:spPr>
          <a:xfrm>
            <a:off x="75751" y="944001"/>
            <a:ext cx="5708923" cy="2800888"/>
          </a:xfrm>
          <a:prstGeom prst="rect">
            <a:avLst/>
          </a:prstGeom>
          <a:ln w="12700">
            <a:miter lim="400000"/>
          </a:ln>
        </p:spPr>
      </p:pic>
      <p:pic>
        <p:nvPicPr>
          <p:cNvPr id="180" name="Picture 4" descr="Picture 4"/>
          <p:cNvPicPr>
            <a:picLocks noChangeAspect="1"/>
          </p:cNvPicPr>
          <p:nvPr/>
        </p:nvPicPr>
        <p:blipFill>
          <a:blip r:embed="rId4">
            <a:extLst/>
          </a:blip>
          <a:stretch>
            <a:fillRect/>
          </a:stretch>
        </p:blipFill>
        <p:spPr>
          <a:xfrm>
            <a:off x="5842000" y="1771454"/>
            <a:ext cx="3226250" cy="3220917"/>
          </a:xfrm>
          <a:prstGeom prst="rect">
            <a:avLst/>
          </a:prstGeom>
          <a:ln w="12700">
            <a:miter lim="400000"/>
          </a:ln>
        </p:spPr>
      </p:pic>
      <p:sp>
        <p:nvSpPr>
          <p:cNvPr id="181" name="TextBox 8"/>
          <p:cNvSpPr txBox="1"/>
          <p:nvPr/>
        </p:nvSpPr>
        <p:spPr>
          <a:xfrm>
            <a:off x="2331720" y="4670642"/>
            <a:ext cx="4480560" cy="287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latin typeface="Times New Roman"/>
                <a:ea typeface="Times New Roman"/>
                <a:cs typeface="Times New Roman"/>
                <a:sym typeface="Times New Roman"/>
              </a:defRPr>
            </a:lvl1pPr>
          </a:lstStyle>
          <a:p>
            <a:pPr/>
            <a:r>
              <a:t>At-Risk Nodes and Their Connections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Google Shape;210;p27"/>
          <p:cNvSpPr txBox="1"/>
          <p:nvPr>
            <p:ph type="title"/>
          </p:nvPr>
        </p:nvSpPr>
        <p:spPr>
          <a:xfrm>
            <a:off x="781049" y="253006"/>
            <a:ext cx="7844792" cy="845643"/>
          </a:xfrm>
          <a:prstGeom prst="rect">
            <a:avLst/>
          </a:prstGeom>
        </p:spPr>
        <p:txBody>
          <a:bodyPr/>
          <a:lstStyle>
            <a:lvl1pPr>
              <a:defRPr b="1" sz="2900">
                <a:latin typeface="Times New Roman"/>
                <a:ea typeface="Times New Roman"/>
                <a:cs typeface="Times New Roman"/>
                <a:sym typeface="Times New Roman"/>
              </a:defRPr>
            </a:lvl1pPr>
          </a:lstStyle>
          <a:p>
            <a:pPr/>
            <a:r>
              <a:t>Domain Knowledge/technology and tools being used </a:t>
            </a:r>
          </a:p>
        </p:txBody>
      </p:sp>
      <p:grpSp>
        <p:nvGrpSpPr>
          <p:cNvPr id="186" name="Google Shape;212;p27"/>
          <p:cNvGrpSpPr/>
          <p:nvPr/>
        </p:nvGrpSpPr>
        <p:grpSpPr>
          <a:xfrm>
            <a:off x="0" y="4868419"/>
            <a:ext cx="9144000" cy="280760"/>
            <a:chOff x="0" y="0"/>
            <a:chExt cx="9144000" cy="280758"/>
          </a:xfrm>
        </p:grpSpPr>
        <p:sp>
          <p:nvSpPr>
            <p:cNvPr id="184"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85"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87" name="Google Shape;213;p27" descr="Google Shape;213;p27"/>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88" name="Rectangle 1"/>
          <p:cNvSpPr txBox="1"/>
          <p:nvPr/>
        </p:nvSpPr>
        <p:spPr>
          <a:xfrm>
            <a:off x="563879" y="1273046"/>
            <a:ext cx="5872481" cy="30546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285750" indent="-285750">
              <a:buSzPct val="100000"/>
              <a:buChar char="▪"/>
              <a:defRPr b="1" sz="1600">
                <a:latin typeface="Times New Roman"/>
                <a:ea typeface="Times New Roman"/>
                <a:cs typeface="Times New Roman"/>
                <a:sym typeface="Times New Roman"/>
              </a:defRPr>
            </a:pPr>
            <a:r>
              <a:t>Domain Knowledge:</a:t>
            </a:r>
          </a:p>
          <a:p>
            <a:pPr marL="285750" indent="-285750">
              <a:buSzPct val="100000"/>
              <a:buChar char="▪"/>
              <a:defRPr sz="1600">
                <a:latin typeface="Times New Roman"/>
                <a:ea typeface="Times New Roman"/>
                <a:cs typeface="Times New Roman"/>
                <a:sym typeface="Times New Roman"/>
              </a:defRPr>
            </a:pPr>
            <a:r>
              <a:t>Cybersecurity &amp; Insider Threat Detection</a:t>
            </a:r>
          </a:p>
          <a:p>
            <a:pPr marL="285750" indent="-285750">
              <a:buSzPct val="100000"/>
              <a:buChar char="▪"/>
              <a:defRPr sz="1600">
                <a:latin typeface="Times New Roman"/>
                <a:ea typeface="Times New Roman"/>
                <a:cs typeface="Times New Roman"/>
                <a:sym typeface="Times New Roman"/>
              </a:defRPr>
            </a:pPr>
            <a:r>
              <a:t>Behavioral Analytics &amp; Anomaly Detection</a:t>
            </a:r>
          </a:p>
          <a:p>
            <a:pPr marL="285750" indent="-285750">
              <a:buSzPct val="100000"/>
              <a:buChar char="▪"/>
              <a:defRPr sz="1600">
                <a:latin typeface="Times New Roman"/>
                <a:ea typeface="Times New Roman"/>
                <a:cs typeface="Times New Roman"/>
                <a:sym typeface="Times New Roman"/>
              </a:defRPr>
            </a:pPr>
            <a:r>
              <a:t>Machine Learning</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b="1" sz="1600">
                <a:latin typeface="Times New Roman"/>
                <a:ea typeface="Times New Roman"/>
                <a:cs typeface="Times New Roman"/>
                <a:sym typeface="Times New Roman"/>
              </a:defRPr>
            </a:pPr>
            <a:r>
              <a:t>Technologies &amp; Tools:</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b="1" sz="1600">
                <a:latin typeface="Times New Roman"/>
                <a:ea typeface="Times New Roman"/>
                <a:cs typeface="Times New Roman"/>
                <a:sym typeface="Times New Roman"/>
              </a:defRPr>
            </a:pPr>
            <a:r>
              <a:t>Python Libraries:</a:t>
            </a:r>
            <a:r>
              <a:rPr b="0"/>
              <a:t> pandas, numpy, scikit-learn, shap, seaborn, matplotlib</a:t>
            </a:r>
            <a:endParaRPr b="0"/>
          </a:p>
          <a:p>
            <a:pPr marL="285750" indent="-285750">
              <a:buSzPct val="100000"/>
              <a:buChar char="▪"/>
              <a:defRPr b="1" sz="1600">
                <a:latin typeface="Times New Roman"/>
                <a:ea typeface="Times New Roman"/>
                <a:cs typeface="Times New Roman"/>
                <a:sym typeface="Times New Roman"/>
              </a:defRPr>
            </a:pPr>
            <a:r>
              <a:t>Visualization:</a:t>
            </a:r>
            <a:r>
              <a:rPr b="0"/>
              <a:t> Streamlit, PyVis</a:t>
            </a:r>
          </a:p>
          <a:p>
            <a:pPr marL="285750" indent="-285750">
              <a:buSzPct val="100000"/>
              <a:buChar char="▪"/>
              <a:defRPr b="1" sz="1600">
                <a:latin typeface="Times New Roman"/>
                <a:ea typeface="Times New Roman"/>
                <a:cs typeface="Times New Roman"/>
                <a:sym typeface="Times New Roman"/>
              </a:defRPr>
            </a:pPr>
            <a:r>
              <a:t>Data:</a:t>
            </a:r>
            <a:r>
              <a:rPr b="0"/>
              <a:t> Synthetic CSV logs (logins.csv, file_access.csv, usb_usage.csv)</a:t>
            </a:r>
            <a:endParaRPr b="0"/>
          </a:p>
        </p:txBody>
      </p:sp>
      <p:pic>
        <p:nvPicPr>
          <p:cNvPr id="189" name="Picture 5" descr="Picture 5"/>
          <p:cNvPicPr>
            <a:picLocks noChangeAspect="1"/>
          </p:cNvPicPr>
          <p:nvPr/>
        </p:nvPicPr>
        <p:blipFill>
          <a:blip r:embed="rId3">
            <a:extLst/>
          </a:blip>
          <a:stretch>
            <a:fillRect/>
          </a:stretch>
        </p:blipFill>
        <p:spPr>
          <a:xfrm>
            <a:off x="5339627" y="696544"/>
            <a:ext cx="1903414" cy="1903415"/>
          </a:xfrm>
          <a:prstGeom prst="rect">
            <a:avLst/>
          </a:prstGeom>
          <a:ln w="12700">
            <a:miter lim="400000"/>
          </a:ln>
        </p:spPr>
      </p:pic>
      <p:pic>
        <p:nvPicPr>
          <p:cNvPr id="190" name="Picture 7" descr="Picture 7"/>
          <p:cNvPicPr>
            <a:picLocks noChangeAspect="1"/>
          </p:cNvPicPr>
          <p:nvPr/>
        </p:nvPicPr>
        <p:blipFill>
          <a:blip r:embed="rId4">
            <a:extLst/>
          </a:blip>
          <a:stretch>
            <a:fillRect/>
          </a:stretch>
        </p:blipFill>
        <p:spPr>
          <a:xfrm>
            <a:off x="6122989" y="2762482"/>
            <a:ext cx="2604453" cy="1955562"/>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Google Shape;218;p28"/>
          <p:cNvSpPr txBox="1"/>
          <p:nvPr>
            <p:ph type="title"/>
          </p:nvPr>
        </p:nvSpPr>
        <p:spPr>
          <a:xfrm>
            <a:off x="628650" y="273843"/>
            <a:ext cx="7886700" cy="845643"/>
          </a:xfrm>
          <a:prstGeom prst="rect">
            <a:avLst/>
          </a:prstGeom>
        </p:spPr>
        <p:txBody>
          <a:bodyPr/>
          <a:lstStyle>
            <a:lvl1pPr algn="ctr">
              <a:defRPr b="1">
                <a:latin typeface="Times New Roman"/>
                <a:ea typeface="Times New Roman"/>
                <a:cs typeface="Times New Roman"/>
                <a:sym typeface="Times New Roman"/>
              </a:defRPr>
            </a:lvl1pPr>
          </a:lstStyle>
          <a:p>
            <a:pPr/>
            <a:r>
              <a:t>Expected Outcome</a:t>
            </a:r>
          </a:p>
        </p:txBody>
      </p:sp>
      <p:grpSp>
        <p:nvGrpSpPr>
          <p:cNvPr id="195" name="Google Shape;219;p28"/>
          <p:cNvGrpSpPr/>
          <p:nvPr/>
        </p:nvGrpSpPr>
        <p:grpSpPr>
          <a:xfrm>
            <a:off x="0" y="4868419"/>
            <a:ext cx="9144000" cy="280760"/>
            <a:chOff x="0" y="0"/>
            <a:chExt cx="9144000" cy="280758"/>
          </a:xfrm>
        </p:grpSpPr>
        <p:sp>
          <p:nvSpPr>
            <p:cNvPr id="193"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194"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196" name="Google Shape;220;p28" descr="Google Shape;220;p28"/>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197" name="Rectangle 1"/>
          <p:cNvSpPr txBox="1"/>
          <p:nvPr/>
        </p:nvSpPr>
        <p:spPr>
          <a:xfrm>
            <a:off x="1464670" y="1387345"/>
            <a:ext cx="6214658" cy="23688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285750" indent="-285750">
              <a:buSzPct val="100000"/>
              <a:buChar char="▪"/>
              <a:defRPr sz="1600">
                <a:latin typeface="Times New Roman"/>
                <a:ea typeface="Times New Roman"/>
                <a:cs typeface="Times New Roman"/>
                <a:sym typeface="Times New Roman"/>
              </a:defRPr>
            </a:pPr>
            <a:r>
              <a:t>Identify suspicious users based on their behavior.</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Generate anomaly scores for each user.</a:t>
            </a: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Interactive dashboard visualizing:</a:t>
            </a:r>
          </a:p>
          <a:p>
            <a:pPr marL="285750" indent="-285750">
              <a:buSzPct val="100000"/>
              <a:buChar char="▪"/>
              <a:defRPr sz="1600">
                <a:latin typeface="Times New Roman"/>
                <a:ea typeface="Times New Roman"/>
                <a:cs typeface="Times New Roman"/>
                <a:sym typeface="Times New Roman"/>
              </a:defRPr>
            </a:pPr>
            <a:r>
              <a:t>             Red-team malicious users.</a:t>
            </a:r>
          </a:p>
          <a:p>
            <a:pPr marL="285750" indent="-285750">
              <a:buSzPct val="100000"/>
              <a:buChar char="▪"/>
              <a:defRPr sz="1600">
                <a:latin typeface="Times New Roman"/>
                <a:ea typeface="Times New Roman"/>
                <a:cs typeface="Times New Roman"/>
                <a:sym typeface="Times New Roman"/>
              </a:defRPr>
            </a:pPr>
            <a:r>
              <a:t>             File access anomalies.</a:t>
            </a:r>
          </a:p>
          <a:p>
            <a:pP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p>
          <a:p>
            <a:pPr marL="285750" indent="-285750">
              <a:buSzPct val="100000"/>
              <a:buChar char="▪"/>
              <a:defRPr sz="1600">
                <a:latin typeface="Times New Roman"/>
                <a:ea typeface="Times New Roman"/>
                <a:cs typeface="Times New Roman"/>
                <a:sym typeface="Times New Roman"/>
              </a:defRPr>
            </a:pPr>
            <a:r>
              <a:t>Demonstrates effectiveness of AI-powered threat detection.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Google Shape;226;p29"/>
          <p:cNvSpPr txBox="1"/>
          <p:nvPr>
            <p:ph type="title"/>
          </p:nvPr>
        </p:nvSpPr>
        <p:spPr>
          <a:xfrm>
            <a:off x="628650" y="273843"/>
            <a:ext cx="7886700" cy="845643"/>
          </a:xfrm>
          <a:prstGeom prst="rect">
            <a:avLst/>
          </a:prstGeom>
        </p:spPr>
        <p:txBody>
          <a:bodyPr/>
          <a:lstStyle>
            <a:lvl1pPr algn="ctr">
              <a:defRPr b="1">
                <a:latin typeface="Times New Roman"/>
                <a:ea typeface="Times New Roman"/>
                <a:cs typeface="Times New Roman"/>
                <a:sym typeface="Times New Roman"/>
              </a:defRPr>
            </a:lvl1pPr>
          </a:lstStyle>
          <a:p>
            <a:pPr/>
            <a:r>
              <a:t>Conclusion</a:t>
            </a:r>
          </a:p>
        </p:txBody>
      </p:sp>
      <p:grpSp>
        <p:nvGrpSpPr>
          <p:cNvPr id="202" name="Google Shape;227;p29"/>
          <p:cNvGrpSpPr/>
          <p:nvPr/>
        </p:nvGrpSpPr>
        <p:grpSpPr>
          <a:xfrm>
            <a:off x="0" y="4868419"/>
            <a:ext cx="9144000" cy="280760"/>
            <a:chOff x="0" y="0"/>
            <a:chExt cx="9144000" cy="280758"/>
          </a:xfrm>
        </p:grpSpPr>
        <p:sp>
          <p:nvSpPr>
            <p:cNvPr id="200" name="Rectangle"/>
            <p:cNvSpPr/>
            <p:nvPr/>
          </p:nvSpPr>
          <p:spPr>
            <a:xfrm>
              <a:off x="0" y="14035"/>
              <a:ext cx="9144000" cy="252688"/>
            </a:xfrm>
            <a:prstGeom prst="rect">
              <a:avLst/>
            </a:prstGeom>
            <a:solidFill>
              <a:srgbClr val="25A2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201"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pic>
        <p:nvPicPr>
          <p:cNvPr id="203" name="Google Shape;228;p29" descr="Google Shape;228;p29"/>
          <p:cNvPicPr>
            <a:picLocks noChangeAspect="1"/>
          </p:cNvPicPr>
          <p:nvPr/>
        </p:nvPicPr>
        <p:blipFill>
          <a:blip r:embed="rId2">
            <a:extLst/>
          </a:blip>
          <a:stretch>
            <a:fillRect/>
          </a:stretch>
        </p:blipFill>
        <p:spPr>
          <a:xfrm>
            <a:off x="0" y="0"/>
            <a:ext cx="724624" cy="819346"/>
          </a:xfrm>
          <a:prstGeom prst="rect">
            <a:avLst/>
          </a:prstGeom>
          <a:ln w="12700">
            <a:miter lim="400000"/>
          </a:ln>
        </p:spPr>
      </p:pic>
      <p:sp>
        <p:nvSpPr>
          <p:cNvPr id="204" name="Rectangle 1"/>
          <p:cNvSpPr txBox="1"/>
          <p:nvPr/>
        </p:nvSpPr>
        <p:spPr>
          <a:xfrm>
            <a:off x="1449610" y="1273045"/>
            <a:ext cx="5677630" cy="25974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285750" indent="-285750">
              <a:buSzPct val="100000"/>
              <a:buChar char="▪"/>
              <a:defRPr sz="1600">
                <a:latin typeface="Times New Roman"/>
                <a:ea typeface="Times New Roman"/>
                <a:cs typeface="Times New Roman"/>
                <a:sym typeface="Times New Roman"/>
              </a:defRPr>
            </a:pPr>
            <a:r>
              <a:t>Insider threats are significant security risks that can be mitigated using AI.</a:t>
            </a:r>
          </a:p>
          <a:p>
            <a:pPr marL="285750" indent="-285750">
              <a:buSzPct val="100000"/>
              <a:buChar char="▪"/>
              <a:defRPr sz="1600">
                <a:latin typeface="Times New Roman"/>
                <a:ea typeface="Times New Roman"/>
                <a:cs typeface="Times New Roman"/>
                <a:sym typeface="Times New Roman"/>
              </a:defRPr>
            </a:pPr>
            <a:r>
              <a:t>Synthetic data allows </a:t>
            </a:r>
            <a:r>
              <a:rPr b="1"/>
              <a:t>safe experimentation and model training</a:t>
            </a:r>
            <a:r>
              <a:t>.</a:t>
            </a:r>
          </a:p>
          <a:p>
            <a:pPr marL="285750" indent="-285750">
              <a:buSzPct val="100000"/>
              <a:buChar char="▪"/>
              <a:defRPr sz="1600">
                <a:latin typeface="Times New Roman"/>
                <a:ea typeface="Times New Roman"/>
                <a:cs typeface="Times New Roman"/>
                <a:sym typeface="Times New Roman"/>
              </a:defRPr>
            </a:pPr>
            <a:r>
              <a:t>Red-team simulation helps </a:t>
            </a:r>
            <a:r>
              <a:rPr b="1"/>
              <a:t>test edge cases</a:t>
            </a:r>
            <a:r>
              <a:t> of malicious behavior.</a:t>
            </a:r>
          </a:p>
          <a:p>
            <a:pPr marL="285750" indent="-285750">
              <a:buSzPct val="100000"/>
              <a:buChar char="▪"/>
              <a:defRPr sz="1600">
                <a:latin typeface="Times New Roman"/>
                <a:ea typeface="Times New Roman"/>
                <a:cs typeface="Times New Roman"/>
                <a:sym typeface="Times New Roman"/>
              </a:defRPr>
            </a:pPr>
            <a:r>
              <a:t>Project demonstrates </a:t>
            </a:r>
            <a:r>
              <a:rPr b="1"/>
              <a:t>end-to-end workflow</a:t>
            </a:r>
            <a:r>
              <a:t>:</a:t>
            </a:r>
          </a:p>
          <a:p>
            <a:pPr marL="285750" indent="-285750">
              <a:buSzPct val="100000"/>
              <a:buChar char="▪"/>
              <a:defRPr sz="1600">
                <a:latin typeface="Times New Roman"/>
                <a:ea typeface="Times New Roman"/>
                <a:cs typeface="Times New Roman"/>
                <a:sym typeface="Times New Roman"/>
              </a:defRPr>
            </a:pPr>
            <a:r>
              <a:t>Data generation → Feature engineering → ML training → Dashboard visualization.</a:t>
            </a:r>
          </a:p>
          <a:p>
            <a:pPr marL="285750" indent="-285750">
              <a:buSzPct val="100000"/>
              <a:buChar char="▪"/>
              <a:defRPr sz="1600">
                <a:latin typeface="Times New Roman"/>
                <a:ea typeface="Times New Roman"/>
                <a:cs typeface="Times New Roman"/>
                <a:sym typeface="Times New Roman"/>
              </a:defRPr>
            </a:pPr>
            <a:r>
              <a:t>Future scope: Real-time monitoring, integration with corporate security systems.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uggestions"/>
          <p:cNvSpPr txBox="1"/>
          <p:nvPr>
            <p:ph type="title"/>
          </p:nvPr>
        </p:nvSpPr>
        <p:spPr>
          <a:prstGeom prst="rect">
            <a:avLst/>
          </a:prstGeom>
        </p:spPr>
        <p:txBody>
          <a:bodyPr/>
          <a:lstStyle/>
          <a:p>
            <a:pPr/>
            <a:r>
              <a:t>Suggestions</a:t>
            </a:r>
          </a:p>
        </p:txBody>
      </p:sp>
      <p:sp>
        <p:nvSpPr>
          <p:cNvPr id="207" name="Add an interactive dashboard with a time-range filter to display users’ file access and activity details.…"/>
          <p:cNvSpPr txBox="1"/>
          <p:nvPr>
            <p:ph type="body" idx="1"/>
          </p:nvPr>
        </p:nvSpPr>
        <p:spPr>
          <a:prstGeom prst="rect">
            <a:avLst/>
          </a:prstGeom>
        </p:spPr>
        <p:txBody>
          <a:bodyPr/>
          <a:lstStyle/>
          <a:p>
            <a:pPr marL="120315" indent="-120315" defTabSz="457200">
              <a:lnSpc>
                <a:spcPct val="100000"/>
              </a:lnSpc>
              <a:spcBef>
                <a:spcPts val="0"/>
              </a:spcBef>
              <a:buClrTx/>
              <a:buSzPct val="100000"/>
              <a:buFontTx/>
              <a:defRPr sz="1900">
                <a:latin typeface="Times Roman"/>
                <a:ea typeface="Times Roman"/>
                <a:cs typeface="Times Roman"/>
                <a:sym typeface="Times Roman"/>
              </a:defRPr>
            </a:pPr>
            <a:r>
              <a:t>Add an </a:t>
            </a:r>
            <a:r>
              <a:rPr b="1"/>
              <a:t>interactive dashboard</a:t>
            </a:r>
            <a:r>
              <a:t> with a time-range filter to display users’ file access and activity details.</a:t>
            </a:r>
          </a:p>
          <a:p>
            <a:pPr marL="120315" indent="-120315" defTabSz="457200">
              <a:lnSpc>
                <a:spcPct val="100000"/>
              </a:lnSpc>
              <a:spcBef>
                <a:spcPts val="0"/>
              </a:spcBef>
              <a:buClrTx/>
              <a:buSzPct val="100000"/>
              <a:buFontTx/>
              <a:defRPr sz="1900">
                <a:latin typeface="Times Roman"/>
                <a:ea typeface="Times Roman"/>
                <a:cs typeface="Times Roman"/>
                <a:sym typeface="Times Roman"/>
              </a:defRPr>
            </a:pPr>
            <a:r>
              <a:t>Include </a:t>
            </a:r>
            <a:r>
              <a:rPr b="1"/>
              <a:t>summary reports</a:t>
            </a:r>
            <a:r>
              <a:t> showing top active users, access frequency, and flagged anomalies.</a:t>
            </a:r>
          </a:p>
          <a:p>
            <a:pPr marL="120315" indent="-120315" defTabSz="457200">
              <a:lnSpc>
                <a:spcPct val="100000"/>
              </a:lnSpc>
              <a:spcBef>
                <a:spcPts val="0"/>
              </a:spcBef>
              <a:buClrTx/>
              <a:buSzPct val="100000"/>
              <a:buFontTx/>
              <a:defRPr sz="1900">
                <a:latin typeface="Times Roman"/>
                <a:ea typeface="Times Roman"/>
                <a:cs typeface="Times Roman"/>
                <a:sym typeface="Times Roman"/>
              </a:defRPr>
            </a:pPr>
            <a:r>
              <a:t>Enable </a:t>
            </a:r>
            <a:r>
              <a:rPr b="1"/>
              <a:t>visual charts and export options</a:t>
            </a:r>
            <a:r>
              <a:t> (PDF/CSV) for easier analysis and presentation.</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Google Shape;235;p30"/>
          <p:cNvSpPr txBox="1"/>
          <p:nvPr>
            <p:ph type="title"/>
          </p:nvPr>
        </p:nvSpPr>
        <p:spPr>
          <a:xfrm>
            <a:off x="582051" y="21102"/>
            <a:ext cx="7886701" cy="728006"/>
          </a:xfrm>
          <a:prstGeom prst="rect">
            <a:avLst/>
          </a:prstGeom>
        </p:spPr>
        <p:txBody>
          <a:bodyPr/>
          <a:lstStyle>
            <a:lvl1pPr algn="ctr">
              <a:defRPr b="1" sz="2700"/>
            </a:lvl1pPr>
          </a:lstStyle>
          <a:p>
            <a:pPr/>
            <a:r>
              <a:t>   </a:t>
            </a:r>
          </a:p>
        </p:txBody>
      </p:sp>
      <p:sp>
        <p:nvSpPr>
          <p:cNvPr id="210" name="Google Shape;236;p30"/>
          <p:cNvSpPr txBox="1"/>
          <p:nvPr>
            <p:ph type="body" idx="1"/>
          </p:nvPr>
        </p:nvSpPr>
        <p:spPr>
          <a:xfrm>
            <a:off x="817175" y="377181"/>
            <a:ext cx="7886701" cy="4389000"/>
          </a:xfrm>
          <a:prstGeom prst="rect">
            <a:avLst/>
          </a:prstGeom>
        </p:spPr>
        <p:txBody>
          <a:bodyPr/>
          <a:lstStyle/>
          <a:p>
            <a:pPr marL="0" indent="0">
              <a:spcBef>
                <a:spcPts val="0"/>
              </a:spcBef>
              <a:buSzTx/>
              <a:buNone/>
              <a:defRPr b="1" sz="1800">
                <a:solidFill>
                  <a:srgbClr val="AEABAB"/>
                </a:solidFill>
                <a:latin typeface="Times New Roman"/>
                <a:ea typeface="Times New Roman"/>
                <a:cs typeface="Times New Roman"/>
                <a:sym typeface="Times New Roman"/>
              </a:defRPr>
            </a:pPr>
          </a:p>
          <a:p>
            <a:pPr marL="0" indent="0">
              <a:buSzTx/>
              <a:buNone/>
              <a:defRPr b="1" sz="1800">
                <a:solidFill>
                  <a:srgbClr val="AEABAB"/>
                </a:solidFill>
                <a:latin typeface="Times New Roman"/>
                <a:ea typeface="Times New Roman"/>
                <a:cs typeface="Times New Roman"/>
                <a:sym typeface="Times New Roman"/>
              </a:defRPr>
            </a:pPr>
          </a:p>
          <a:p>
            <a:pPr marL="0" indent="0">
              <a:buSzTx/>
              <a:buNone/>
              <a:defRPr b="1" sz="1800">
                <a:solidFill>
                  <a:srgbClr val="AEABAB"/>
                </a:solidFill>
                <a:latin typeface="Times New Roman"/>
                <a:ea typeface="Times New Roman"/>
                <a:cs typeface="Times New Roman"/>
                <a:sym typeface="Times New Roman"/>
              </a:defRPr>
            </a:pPr>
          </a:p>
          <a:p>
            <a:pPr marL="0" indent="0">
              <a:buSzTx/>
              <a:buNone/>
              <a:defRPr b="1" sz="1800">
                <a:solidFill>
                  <a:srgbClr val="AEABAB"/>
                </a:solidFill>
                <a:latin typeface="Times New Roman"/>
                <a:ea typeface="Times New Roman"/>
                <a:cs typeface="Times New Roman"/>
                <a:sym typeface="Times New Roman"/>
              </a:defRPr>
            </a:pPr>
          </a:p>
          <a:p>
            <a:pPr marL="0" indent="0">
              <a:buSzTx/>
              <a:buNone/>
              <a:defRPr b="1" sz="1800">
                <a:solidFill>
                  <a:srgbClr val="AEABAB"/>
                </a:solidFill>
                <a:latin typeface="Times New Roman"/>
                <a:ea typeface="Times New Roman"/>
                <a:cs typeface="Times New Roman"/>
                <a:sym typeface="Times New Roman"/>
              </a:defRPr>
            </a:pPr>
          </a:p>
          <a:p>
            <a:pPr marL="0" indent="0">
              <a:buSzTx/>
              <a:buNone/>
              <a:defRPr b="1" sz="1800">
                <a:solidFill>
                  <a:srgbClr val="AEABAB"/>
                </a:solidFill>
                <a:latin typeface="Times New Roman"/>
                <a:ea typeface="Times New Roman"/>
                <a:cs typeface="Times New Roman"/>
                <a:sym typeface="Times New Roman"/>
              </a:defRPr>
            </a:pPr>
            <a:r>
              <a:t>                                                      </a:t>
            </a:r>
            <a:r>
              <a:rPr sz="3600">
                <a:solidFill>
                  <a:srgbClr val="000000"/>
                </a:solidFill>
              </a:rPr>
              <a:t>Thank You!</a:t>
            </a:r>
          </a:p>
        </p:txBody>
      </p:sp>
      <p:pic>
        <p:nvPicPr>
          <p:cNvPr id="211" name="Google Shape;237;p30" descr="Google Shape;237;p30"/>
          <p:cNvPicPr>
            <a:picLocks noChangeAspect="1"/>
          </p:cNvPicPr>
          <p:nvPr/>
        </p:nvPicPr>
        <p:blipFill>
          <a:blip r:embed="rId2">
            <a:extLst/>
          </a:blip>
          <a:stretch>
            <a:fillRect/>
          </a:stretch>
        </p:blipFill>
        <p:spPr>
          <a:xfrm>
            <a:off x="0" y="0"/>
            <a:ext cx="724624" cy="819346"/>
          </a:xfrm>
          <a:prstGeom prst="rect">
            <a:avLst/>
          </a:prstGeom>
          <a:ln w="12700">
            <a:miter lim="400000"/>
          </a:ln>
        </p:spPr>
      </p:pic>
      <p:grpSp>
        <p:nvGrpSpPr>
          <p:cNvPr id="214" name="Google Shape;238;p30"/>
          <p:cNvGrpSpPr/>
          <p:nvPr/>
        </p:nvGrpSpPr>
        <p:grpSpPr>
          <a:xfrm>
            <a:off x="0" y="4868419"/>
            <a:ext cx="9144000" cy="280760"/>
            <a:chOff x="0" y="0"/>
            <a:chExt cx="9144000" cy="280758"/>
          </a:xfrm>
        </p:grpSpPr>
        <p:sp>
          <p:nvSpPr>
            <p:cNvPr id="212" name="Rectangle"/>
            <p:cNvSpPr/>
            <p:nvPr/>
          </p:nvSpPr>
          <p:spPr>
            <a:xfrm>
              <a:off x="0" y="14035"/>
              <a:ext cx="9144000" cy="252688"/>
            </a:xfrm>
            <a:prstGeom prst="rect">
              <a:avLst/>
            </a:prstGeom>
            <a:solidFill>
              <a:srgbClr val="43AEFF"/>
            </a:solidFill>
            <a:ln w="12700" cap="flat">
              <a:noFill/>
              <a:miter lim="400000"/>
            </a:ln>
            <a:effectLst/>
          </p:spPr>
          <p:txBody>
            <a:bodyPr wrap="square" lIns="45719" tIns="45719" rIns="45719" bIns="45719" numCol="1" anchor="ctr">
              <a:noAutofit/>
            </a:bodyPr>
            <a:lstStyle/>
            <a:p>
              <a:pPr algn="ctr">
                <a:defRPr b="1">
                  <a:latin typeface="Calibri"/>
                  <a:ea typeface="Calibri"/>
                  <a:cs typeface="Calibri"/>
                  <a:sym typeface="Calibri"/>
                </a:defRPr>
              </a:pPr>
            </a:p>
          </p:txBody>
        </p:sp>
        <p:sp>
          <p:nvSpPr>
            <p:cNvPr id="213" name="Department of Computer Engineering, VIT, Pune-48"/>
            <p:cNvSpPr txBox="1"/>
            <p:nvPr/>
          </p:nvSpPr>
          <p:spPr>
            <a:xfrm>
              <a:off x="45724" y="-1"/>
              <a:ext cx="9052551" cy="280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b="1">
                  <a:latin typeface="Calibri"/>
                  <a:ea typeface="Calibri"/>
                  <a:cs typeface="Calibri"/>
                  <a:sym typeface="Calibri"/>
                </a:defRPr>
              </a:lvl1pPr>
            </a:lstStyle>
            <a:p>
              <a:pPr/>
              <a:r>
                <a:t>Department of Computer Engineering, VIT, Pune-48</a:t>
              </a:r>
            </a:p>
          </p:txBody>
        </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2F2F2">
          <a:alpha val="71764"/>
        </a:srgbClr>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